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88952" cy="3657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463040"/>
            <a:ext cx="11247120" cy="1280160"/>
          </a:xfrm>
          <a:prstGeom prst="rect">
            <a:avLst/>
          </a:prstGeom>
          <a:noFill/>
        </p:spPr>
        <p:txBody>
          <a:bodyPr wrap="square">
            <a:spAutoFit/>
          </a:bodyPr>
          <a:lstStyle/>
          <a:p>
            <a:pPr algn="l"/>
            <a:r>
              <a:rPr sz="4400" b="1" i="0">
                <a:solidFill>
                  <a:srgbClr val="FFFFFF"/>
                </a:solidFill>
              </a:rPr>
              <a:t>Support Ticket Resolution System</a:t>
            </a:r>
          </a:p>
        </p:txBody>
      </p:sp>
      <p:sp>
        <p:nvSpPr>
          <p:cNvPr id="5" name="TextBox 4"/>
          <p:cNvSpPr txBox="1"/>
          <p:nvPr/>
        </p:nvSpPr>
        <p:spPr>
          <a:xfrm>
            <a:off x="457200" y="2834640"/>
            <a:ext cx="11247120" cy="457200"/>
          </a:xfrm>
          <a:prstGeom prst="rect">
            <a:avLst/>
          </a:prstGeom>
          <a:noFill/>
        </p:spPr>
        <p:txBody>
          <a:bodyPr wrap="square">
            <a:spAutoFit/>
          </a:bodyPr>
          <a:lstStyle/>
          <a:p>
            <a:pPr algn="l"/>
            <a:r>
              <a:rPr sz="1600" b="0" i="0">
                <a:solidFill>
                  <a:srgbClr val="4FA3D8"/>
                </a:solidFill>
              </a:rPr>
              <a:t>AI-Powered RAG Knowledge Base  •  Multi-Region  •  Third-Party Integrations</a:t>
            </a:r>
          </a:p>
        </p:txBody>
      </p:sp>
      <p:sp>
        <p:nvSpPr>
          <p:cNvPr id="6" name="Rectangle 5"/>
          <p:cNvSpPr/>
          <p:nvPr/>
        </p:nvSpPr>
        <p:spPr>
          <a:xfrm>
            <a:off x="457200" y="3401568"/>
            <a:ext cx="320040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611880"/>
            <a:ext cx="5486400" cy="365760"/>
          </a:xfrm>
          <a:prstGeom prst="rect">
            <a:avLst/>
          </a:prstGeom>
          <a:noFill/>
        </p:spPr>
        <p:txBody>
          <a:bodyPr wrap="square">
            <a:spAutoFit/>
          </a:bodyPr>
          <a:lstStyle/>
          <a:p>
            <a:pPr algn="l"/>
            <a:r>
              <a:rPr sz="1300" b="0" i="0">
                <a:solidFill>
                  <a:srgbClr val="A0B0C0"/>
                </a:solidFill>
              </a:rPr>
              <a:t>IncubXperts Hackathon 2026</a:t>
            </a:r>
          </a:p>
        </p:txBody>
      </p:sp>
      <p:sp>
        <p:nvSpPr>
          <p:cNvPr id="8" name="Rectangle 7"/>
          <p:cNvSpPr/>
          <p:nvPr/>
        </p:nvSpPr>
        <p:spPr>
          <a:xfrm>
            <a:off x="9601200" y="5852160"/>
            <a:ext cx="2286000" cy="5029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46920" y="5879592"/>
            <a:ext cx="2194560" cy="411480"/>
          </a:xfrm>
          <a:prstGeom prst="rect">
            <a:avLst/>
          </a:prstGeom>
          <a:noFill/>
        </p:spPr>
        <p:txBody>
          <a:bodyPr wrap="square">
            <a:spAutoFit/>
          </a:bodyPr>
          <a:lstStyle/>
          <a:p>
            <a:pPr algn="ctr"/>
            <a:r>
              <a:rPr sz="900" b="0" i="0">
                <a:solidFill>
                  <a:srgbClr val="FFFFFF"/>
                </a:solidFill>
              </a:rPr>
              <a:t>Cohere  •  ChromaDB  •  Streamlit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Agenda</a:t>
            </a:r>
          </a:p>
        </p:txBody>
      </p:sp>
      <p:sp>
        <p:nvSpPr>
          <p:cNvPr id="4" name="Rectangle 3"/>
          <p:cNvSpPr/>
          <p:nvPr/>
        </p:nvSpPr>
        <p:spPr>
          <a:xfrm>
            <a:off x="320040" y="114300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14300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93192" y="1417320"/>
            <a:ext cx="411480" cy="457200"/>
          </a:xfrm>
          <a:prstGeom prst="rect">
            <a:avLst/>
          </a:prstGeom>
          <a:noFill/>
        </p:spPr>
        <p:txBody>
          <a:bodyPr wrap="square">
            <a:spAutoFit/>
          </a:bodyPr>
          <a:lstStyle/>
          <a:p>
            <a:pPr algn="ctr"/>
            <a:r>
              <a:rPr sz="1800" b="1" i="0">
                <a:solidFill>
                  <a:srgbClr val="FFFFFF"/>
                </a:solidFill>
              </a:rPr>
              <a:t>01</a:t>
            </a:r>
          </a:p>
        </p:txBody>
      </p:sp>
      <p:sp>
        <p:nvSpPr>
          <p:cNvPr id="7" name="TextBox 6"/>
          <p:cNvSpPr txBox="1"/>
          <p:nvPr/>
        </p:nvSpPr>
        <p:spPr>
          <a:xfrm>
            <a:off x="914400" y="1216152"/>
            <a:ext cx="2057400" cy="347472"/>
          </a:xfrm>
          <a:prstGeom prst="rect">
            <a:avLst/>
          </a:prstGeom>
          <a:noFill/>
        </p:spPr>
        <p:txBody>
          <a:bodyPr wrap="square">
            <a:spAutoFit/>
          </a:bodyPr>
          <a:lstStyle/>
          <a:p>
            <a:pPr algn="l"/>
            <a:r>
              <a:rPr sz="1300" b="1" i="0">
                <a:solidFill>
                  <a:srgbClr val="FFFFFF"/>
                </a:solidFill>
              </a:rPr>
              <a:t>Problem Statement</a:t>
            </a:r>
          </a:p>
        </p:txBody>
      </p:sp>
      <p:sp>
        <p:nvSpPr>
          <p:cNvPr id="8" name="TextBox 7"/>
          <p:cNvSpPr txBox="1"/>
          <p:nvPr/>
        </p:nvSpPr>
        <p:spPr>
          <a:xfrm>
            <a:off x="914400" y="1618488"/>
            <a:ext cx="2057400" cy="457200"/>
          </a:xfrm>
          <a:prstGeom prst="rect">
            <a:avLst/>
          </a:prstGeom>
          <a:noFill/>
        </p:spPr>
        <p:txBody>
          <a:bodyPr wrap="square">
            <a:spAutoFit/>
          </a:bodyPr>
          <a:lstStyle/>
          <a:p>
            <a:pPr algn="l"/>
            <a:r>
              <a:rPr sz="1000" b="0" i="0">
                <a:solidFill>
                  <a:srgbClr val="F0F4F8"/>
                </a:solidFill>
              </a:rPr>
              <a:t>The challenge with modern support workflows</a:t>
            </a:r>
          </a:p>
        </p:txBody>
      </p:sp>
      <p:sp>
        <p:nvSpPr>
          <p:cNvPr id="9" name="Rectangle 8"/>
          <p:cNvSpPr/>
          <p:nvPr/>
        </p:nvSpPr>
        <p:spPr>
          <a:xfrm>
            <a:off x="6217920" y="114300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14300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91072" y="1417320"/>
            <a:ext cx="411480" cy="457200"/>
          </a:xfrm>
          <a:prstGeom prst="rect">
            <a:avLst/>
          </a:prstGeom>
          <a:noFill/>
        </p:spPr>
        <p:txBody>
          <a:bodyPr wrap="square">
            <a:spAutoFit/>
          </a:bodyPr>
          <a:lstStyle/>
          <a:p>
            <a:pPr algn="ctr"/>
            <a:r>
              <a:rPr sz="1800" b="1" i="0">
                <a:solidFill>
                  <a:srgbClr val="FFFFFF"/>
                </a:solidFill>
              </a:rPr>
              <a:t>02</a:t>
            </a:r>
          </a:p>
        </p:txBody>
      </p:sp>
      <p:sp>
        <p:nvSpPr>
          <p:cNvPr id="12" name="TextBox 11"/>
          <p:cNvSpPr txBox="1"/>
          <p:nvPr/>
        </p:nvSpPr>
        <p:spPr>
          <a:xfrm>
            <a:off x="6812280" y="1216152"/>
            <a:ext cx="2057400" cy="347472"/>
          </a:xfrm>
          <a:prstGeom prst="rect">
            <a:avLst/>
          </a:prstGeom>
          <a:noFill/>
        </p:spPr>
        <p:txBody>
          <a:bodyPr wrap="square">
            <a:spAutoFit/>
          </a:bodyPr>
          <a:lstStyle/>
          <a:p>
            <a:pPr algn="l"/>
            <a:r>
              <a:rPr sz="1300" b="1" i="0">
                <a:solidFill>
                  <a:srgbClr val="FFFFFF"/>
                </a:solidFill>
              </a:rPr>
              <a:t>Solution Overview</a:t>
            </a:r>
          </a:p>
        </p:txBody>
      </p:sp>
      <p:sp>
        <p:nvSpPr>
          <p:cNvPr id="13" name="TextBox 12"/>
          <p:cNvSpPr txBox="1"/>
          <p:nvPr/>
        </p:nvSpPr>
        <p:spPr>
          <a:xfrm>
            <a:off x="6812280" y="1618488"/>
            <a:ext cx="2057400" cy="457200"/>
          </a:xfrm>
          <a:prstGeom prst="rect">
            <a:avLst/>
          </a:prstGeom>
          <a:noFill/>
        </p:spPr>
        <p:txBody>
          <a:bodyPr wrap="square">
            <a:spAutoFit/>
          </a:bodyPr>
          <a:lstStyle/>
          <a:p>
            <a:pPr algn="l"/>
            <a:r>
              <a:rPr sz="1000" b="0" i="0">
                <a:solidFill>
                  <a:srgbClr val="F0F4F8"/>
                </a:solidFill>
              </a:rPr>
              <a:t>What the system does and how</a:t>
            </a:r>
          </a:p>
        </p:txBody>
      </p:sp>
      <p:sp>
        <p:nvSpPr>
          <p:cNvPr id="14" name="Rectangle 13"/>
          <p:cNvSpPr/>
          <p:nvPr/>
        </p:nvSpPr>
        <p:spPr>
          <a:xfrm>
            <a:off x="320040" y="233172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233172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3192" y="2606039"/>
            <a:ext cx="411480" cy="457200"/>
          </a:xfrm>
          <a:prstGeom prst="rect">
            <a:avLst/>
          </a:prstGeom>
          <a:noFill/>
        </p:spPr>
        <p:txBody>
          <a:bodyPr wrap="square">
            <a:spAutoFit/>
          </a:bodyPr>
          <a:lstStyle/>
          <a:p>
            <a:pPr algn="ctr"/>
            <a:r>
              <a:rPr sz="1800" b="1" i="0">
                <a:solidFill>
                  <a:srgbClr val="FFFFFF"/>
                </a:solidFill>
              </a:rPr>
              <a:t>03</a:t>
            </a:r>
          </a:p>
        </p:txBody>
      </p:sp>
      <p:sp>
        <p:nvSpPr>
          <p:cNvPr id="17" name="TextBox 16"/>
          <p:cNvSpPr txBox="1"/>
          <p:nvPr/>
        </p:nvSpPr>
        <p:spPr>
          <a:xfrm>
            <a:off x="914400" y="2404872"/>
            <a:ext cx="2057400" cy="347472"/>
          </a:xfrm>
          <a:prstGeom prst="rect">
            <a:avLst/>
          </a:prstGeom>
          <a:noFill/>
        </p:spPr>
        <p:txBody>
          <a:bodyPr wrap="square">
            <a:spAutoFit/>
          </a:bodyPr>
          <a:lstStyle/>
          <a:p>
            <a:pPr algn="l"/>
            <a:r>
              <a:rPr sz="1300" b="1" i="0">
                <a:solidFill>
                  <a:srgbClr val="FFFFFF"/>
                </a:solidFill>
              </a:rPr>
              <a:t>System Architecture</a:t>
            </a:r>
          </a:p>
        </p:txBody>
      </p:sp>
      <p:sp>
        <p:nvSpPr>
          <p:cNvPr id="18" name="TextBox 17"/>
          <p:cNvSpPr txBox="1"/>
          <p:nvPr/>
        </p:nvSpPr>
        <p:spPr>
          <a:xfrm>
            <a:off x="914400" y="2807208"/>
            <a:ext cx="2057400" cy="457200"/>
          </a:xfrm>
          <a:prstGeom prst="rect">
            <a:avLst/>
          </a:prstGeom>
          <a:noFill/>
        </p:spPr>
        <p:txBody>
          <a:bodyPr wrap="square">
            <a:spAutoFit/>
          </a:bodyPr>
          <a:lstStyle/>
          <a:p>
            <a:pPr algn="l"/>
            <a:r>
              <a:rPr sz="1000" b="0" i="0">
                <a:solidFill>
                  <a:srgbClr val="F0F4F8"/>
                </a:solidFill>
              </a:rPr>
              <a:t>Components, data flow, tech stack</a:t>
            </a:r>
          </a:p>
        </p:txBody>
      </p:sp>
      <p:sp>
        <p:nvSpPr>
          <p:cNvPr id="19" name="Rectangle 18"/>
          <p:cNvSpPr/>
          <p:nvPr/>
        </p:nvSpPr>
        <p:spPr>
          <a:xfrm>
            <a:off x="6217920" y="233172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17920" y="233172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91072" y="2606039"/>
            <a:ext cx="411480" cy="457200"/>
          </a:xfrm>
          <a:prstGeom prst="rect">
            <a:avLst/>
          </a:prstGeom>
          <a:noFill/>
        </p:spPr>
        <p:txBody>
          <a:bodyPr wrap="square">
            <a:spAutoFit/>
          </a:bodyPr>
          <a:lstStyle/>
          <a:p>
            <a:pPr algn="ctr"/>
            <a:r>
              <a:rPr sz="1800" b="1" i="0">
                <a:solidFill>
                  <a:srgbClr val="FFFFFF"/>
                </a:solidFill>
              </a:rPr>
              <a:t>04</a:t>
            </a:r>
          </a:p>
        </p:txBody>
      </p:sp>
      <p:sp>
        <p:nvSpPr>
          <p:cNvPr id="22" name="TextBox 21"/>
          <p:cNvSpPr txBox="1"/>
          <p:nvPr/>
        </p:nvSpPr>
        <p:spPr>
          <a:xfrm>
            <a:off x="6812280" y="2404872"/>
            <a:ext cx="2057400" cy="347472"/>
          </a:xfrm>
          <a:prstGeom prst="rect">
            <a:avLst/>
          </a:prstGeom>
          <a:noFill/>
        </p:spPr>
        <p:txBody>
          <a:bodyPr wrap="square">
            <a:spAutoFit/>
          </a:bodyPr>
          <a:lstStyle/>
          <a:p>
            <a:pPr algn="l"/>
            <a:r>
              <a:rPr sz="1300" b="1" i="0">
                <a:solidFill>
                  <a:srgbClr val="FFFFFF"/>
                </a:solidFill>
              </a:rPr>
              <a:t>Key Features</a:t>
            </a:r>
          </a:p>
        </p:txBody>
      </p:sp>
      <p:sp>
        <p:nvSpPr>
          <p:cNvPr id="23" name="TextBox 22"/>
          <p:cNvSpPr txBox="1"/>
          <p:nvPr/>
        </p:nvSpPr>
        <p:spPr>
          <a:xfrm>
            <a:off x="6812280" y="2807208"/>
            <a:ext cx="2057400" cy="457200"/>
          </a:xfrm>
          <a:prstGeom prst="rect">
            <a:avLst/>
          </a:prstGeom>
          <a:noFill/>
        </p:spPr>
        <p:txBody>
          <a:bodyPr wrap="square">
            <a:spAutoFit/>
          </a:bodyPr>
          <a:lstStyle/>
          <a:p>
            <a:pPr algn="l"/>
            <a:r>
              <a:rPr sz="1000" b="0" i="0">
                <a:solidFill>
                  <a:srgbClr val="F0F4F8"/>
                </a:solidFill>
              </a:rPr>
              <a:t>RAG, multi-region, streaming, admin</a:t>
            </a:r>
          </a:p>
        </p:txBody>
      </p:sp>
      <p:sp>
        <p:nvSpPr>
          <p:cNvPr id="24" name="Rectangle 23"/>
          <p:cNvSpPr/>
          <p:nvPr/>
        </p:nvSpPr>
        <p:spPr>
          <a:xfrm>
            <a:off x="320040" y="352044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20040" y="352044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93192" y="3794760"/>
            <a:ext cx="411480" cy="457200"/>
          </a:xfrm>
          <a:prstGeom prst="rect">
            <a:avLst/>
          </a:prstGeom>
          <a:noFill/>
        </p:spPr>
        <p:txBody>
          <a:bodyPr wrap="square">
            <a:spAutoFit/>
          </a:bodyPr>
          <a:lstStyle/>
          <a:p>
            <a:pPr algn="ctr"/>
            <a:r>
              <a:rPr sz="1800" b="1" i="0">
                <a:solidFill>
                  <a:srgbClr val="FFFFFF"/>
                </a:solidFill>
              </a:rPr>
              <a:t>05</a:t>
            </a:r>
          </a:p>
        </p:txBody>
      </p:sp>
      <p:sp>
        <p:nvSpPr>
          <p:cNvPr id="27" name="TextBox 26"/>
          <p:cNvSpPr txBox="1"/>
          <p:nvPr/>
        </p:nvSpPr>
        <p:spPr>
          <a:xfrm>
            <a:off x="914400" y="3593592"/>
            <a:ext cx="2057400" cy="347472"/>
          </a:xfrm>
          <a:prstGeom prst="rect">
            <a:avLst/>
          </a:prstGeom>
          <a:noFill/>
        </p:spPr>
        <p:txBody>
          <a:bodyPr wrap="square">
            <a:spAutoFit/>
          </a:bodyPr>
          <a:lstStyle/>
          <a:p>
            <a:pPr algn="l"/>
            <a:r>
              <a:rPr sz="1300" b="1" i="0">
                <a:solidFill>
                  <a:srgbClr val="FFFFFF"/>
                </a:solidFill>
              </a:rPr>
              <a:t>Third-Party Integrations</a:t>
            </a:r>
          </a:p>
        </p:txBody>
      </p:sp>
      <p:sp>
        <p:nvSpPr>
          <p:cNvPr id="28" name="TextBox 27"/>
          <p:cNvSpPr txBox="1"/>
          <p:nvPr/>
        </p:nvSpPr>
        <p:spPr>
          <a:xfrm>
            <a:off x="914400" y="3995928"/>
            <a:ext cx="2057400" cy="457200"/>
          </a:xfrm>
          <a:prstGeom prst="rect">
            <a:avLst/>
          </a:prstGeom>
          <a:noFill/>
        </p:spPr>
        <p:txBody>
          <a:bodyPr wrap="square">
            <a:spAutoFit/>
          </a:bodyPr>
          <a:lstStyle/>
          <a:p>
            <a:pPr algn="l"/>
            <a:r>
              <a:rPr sz="1000" b="0" i="0">
                <a:solidFill>
                  <a:srgbClr val="F0F4F8"/>
                </a:solidFill>
              </a:rPr>
              <a:t>CRM, Jira, ServiceNow via webhooks</a:t>
            </a:r>
          </a:p>
        </p:txBody>
      </p:sp>
      <p:sp>
        <p:nvSpPr>
          <p:cNvPr id="29" name="Rectangle 28"/>
          <p:cNvSpPr/>
          <p:nvPr/>
        </p:nvSpPr>
        <p:spPr>
          <a:xfrm>
            <a:off x="6217920" y="352044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217920" y="352044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91072" y="3794760"/>
            <a:ext cx="411480" cy="457200"/>
          </a:xfrm>
          <a:prstGeom prst="rect">
            <a:avLst/>
          </a:prstGeom>
          <a:noFill/>
        </p:spPr>
        <p:txBody>
          <a:bodyPr wrap="square">
            <a:spAutoFit/>
          </a:bodyPr>
          <a:lstStyle/>
          <a:p>
            <a:pPr algn="ctr"/>
            <a:r>
              <a:rPr sz="1800" b="1" i="0">
                <a:solidFill>
                  <a:srgbClr val="FFFFFF"/>
                </a:solidFill>
              </a:rPr>
              <a:t>06</a:t>
            </a:r>
          </a:p>
        </p:txBody>
      </p:sp>
      <p:sp>
        <p:nvSpPr>
          <p:cNvPr id="32" name="TextBox 31"/>
          <p:cNvSpPr txBox="1"/>
          <p:nvPr/>
        </p:nvSpPr>
        <p:spPr>
          <a:xfrm>
            <a:off x="6812280" y="3593592"/>
            <a:ext cx="2057400" cy="347472"/>
          </a:xfrm>
          <a:prstGeom prst="rect">
            <a:avLst/>
          </a:prstGeom>
          <a:noFill/>
        </p:spPr>
        <p:txBody>
          <a:bodyPr wrap="square">
            <a:spAutoFit/>
          </a:bodyPr>
          <a:lstStyle/>
          <a:p>
            <a:pPr algn="l"/>
            <a:r>
              <a:rPr sz="1300" b="1" i="0">
                <a:solidFill>
                  <a:srgbClr val="FFFFFF"/>
                </a:solidFill>
              </a:rPr>
              <a:t>Auto-Assignment &amp; AI</a:t>
            </a:r>
          </a:p>
        </p:txBody>
      </p:sp>
      <p:sp>
        <p:nvSpPr>
          <p:cNvPr id="33" name="TextBox 32"/>
          <p:cNvSpPr txBox="1"/>
          <p:nvPr/>
        </p:nvSpPr>
        <p:spPr>
          <a:xfrm>
            <a:off x="6812280" y="3995928"/>
            <a:ext cx="2057400" cy="457200"/>
          </a:xfrm>
          <a:prstGeom prst="rect">
            <a:avLst/>
          </a:prstGeom>
          <a:noFill/>
        </p:spPr>
        <p:txBody>
          <a:bodyPr wrap="square">
            <a:spAutoFit/>
          </a:bodyPr>
          <a:lstStyle/>
          <a:p>
            <a:pPr algn="l"/>
            <a:r>
              <a:rPr sz="1000" b="0" i="0">
                <a:solidFill>
                  <a:srgbClr val="F0F4F8"/>
                </a:solidFill>
              </a:rPr>
              <a:t>Intelligent routing and priority scoring</a:t>
            </a:r>
          </a:p>
        </p:txBody>
      </p:sp>
      <p:sp>
        <p:nvSpPr>
          <p:cNvPr id="34" name="Rectangle 33"/>
          <p:cNvSpPr/>
          <p:nvPr/>
        </p:nvSpPr>
        <p:spPr>
          <a:xfrm>
            <a:off x="320040" y="470916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20040" y="470916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93192" y="4983480"/>
            <a:ext cx="411480" cy="457200"/>
          </a:xfrm>
          <a:prstGeom prst="rect">
            <a:avLst/>
          </a:prstGeom>
          <a:noFill/>
        </p:spPr>
        <p:txBody>
          <a:bodyPr wrap="square">
            <a:spAutoFit/>
          </a:bodyPr>
          <a:lstStyle/>
          <a:p>
            <a:pPr algn="ctr"/>
            <a:r>
              <a:rPr sz="1800" b="1" i="0">
                <a:solidFill>
                  <a:srgbClr val="FFFFFF"/>
                </a:solidFill>
              </a:rPr>
              <a:t>07</a:t>
            </a:r>
          </a:p>
        </p:txBody>
      </p:sp>
      <p:sp>
        <p:nvSpPr>
          <p:cNvPr id="37" name="TextBox 36"/>
          <p:cNvSpPr txBox="1"/>
          <p:nvPr/>
        </p:nvSpPr>
        <p:spPr>
          <a:xfrm>
            <a:off x="914400" y="4782312"/>
            <a:ext cx="2057400" cy="347472"/>
          </a:xfrm>
          <a:prstGeom prst="rect">
            <a:avLst/>
          </a:prstGeom>
          <a:noFill/>
        </p:spPr>
        <p:txBody>
          <a:bodyPr wrap="square">
            <a:spAutoFit/>
          </a:bodyPr>
          <a:lstStyle/>
          <a:p>
            <a:pPr algn="l"/>
            <a:r>
              <a:rPr sz="1300" b="1" i="0">
                <a:solidFill>
                  <a:srgbClr val="FFFFFF"/>
                </a:solidFill>
              </a:rPr>
              <a:t>Demo Screens</a:t>
            </a:r>
          </a:p>
        </p:txBody>
      </p:sp>
      <p:sp>
        <p:nvSpPr>
          <p:cNvPr id="38" name="TextBox 37"/>
          <p:cNvSpPr txBox="1"/>
          <p:nvPr/>
        </p:nvSpPr>
        <p:spPr>
          <a:xfrm>
            <a:off x="914400" y="5184648"/>
            <a:ext cx="2057400" cy="457200"/>
          </a:xfrm>
          <a:prstGeom prst="rect">
            <a:avLst/>
          </a:prstGeom>
          <a:noFill/>
        </p:spPr>
        <p:txBody>
          <a:bodyPr wrap="square">
            <a:spAutoFit/>
          </a:bodyPr>
          <a:lstStyle/>
          <a:p>
            <a:pPr algn="l"/>
            <a:r>
              <a:rPr sz="1000" b="0" i="0">
                <a:solidFill>
                  <a:srgbClr val="F0F4F8"/>
                </a:solidFill>
              </a:rPr>
              <a:t>UI walkthrough</a:t>
            </a:r>
          </a:p>
        </p:txBody>
      </p:sp>
      <p:sp>
        <p:nvSpPr>
          <p:cNvPr id="39" name="Rectangle 38"/>
          <p:cNvSpPr/>
          <p:nvPr/>
        </p:nvSpPr>
        <p:spPr>
          <a:xfrm>
            <a:off x="6217920" y="4709160"/>
            <a:ext cx="2743200" cy="10058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217920" y="4709160"/>
            <a:ext cx="502920" cy="10058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291072" y="4983480"/>
            <a:ext cx="411480" cy="457200"/>
          </a:xfrm>
          <a:prstGeom prst="rect">
            <a:avLst/>
          </a:prstGeom>
          <a:noFill/>
        </p:spPr>
        <p:txBody>
          <a:bodyPr wrap="square">
            <a:spAutoFit/>
          </a:bodyPr>
          <a:lstStyle/>
          <a:p>
            <a:pPr algn="ctr"/>
            <a:r>
              <a:rPr sz="1800" b="1" i="0">
                <a:solidFill>
                  <a:srgbClr val="FFFFFF"/>
                </a:solidFill>
              </a:rPr>
              <a:t>08</a:t>
            </a:r>
          </a:p>
        </p:txBody>
      </p:sp>
      <p:sp>
        <p:nvSpPr>
          <p:cNvPr id="42" name="TextBox 41"/>
          <p:cNvSpPr txBox="1"/>
          <p:nvPr/>
        </p:nvSpPr>
        <p:spPr>
          <a:xfrm>
            <a:off x="6812280" y="4782312"/>
            <a:ext cx="2057400" cy="347472"/>
          </a:xfrm>
          <a:prstGeom prst="rect">
            <a:avLst/>
          </a:prstGeom>
          <a:noFill/>
        </p:spPr>
        <p:txBody>
          <a:bodyPr wrap="square">
            <a:spAutoFit/>
          </a:bodyPr>
          <a:lstStyle/>
          <a:p>
            <a:pPr algn="l"/>
            <a:r>
              <a:rPr sz="1300" b="1" i="0">
                <a:solidFill>
                  <a:srgbClr val="FFFFFF"/>
                </a:solidFill>
              </a:rPr>
              <a:t>Roadmap</a:t>
            </a:r>
          </a:p>
        </p:txBody>
      </p:sp>
      <p:sp>
        <p:nvSpPr>
          <p:cNvPr id="43" name="TextBox 42"/>
          <p:cNvSpPr txBox="1"/>
          <p:nvPr/>
        </p:nvSpPr>
        <p:spPr>
          <a:xfrm>
            <a:off x="6812280" y="5184648"/>
            <a:ext cx="2057400" cy="457200"/>
          </a:xfrm>
          <a:prstGeom prst="rect">
            <a:avLst/>
          </a:prstGeom>
          <a:noFill/>
        </p:spPr>
        <p:txBody>
          <a:bodyPr wrap="square">
            <a:spAutoFit/>
          </a:bodyPr>
          <a:lstStyle/>
          <a:p>
            <a:pPr algn="l"/>
            <a:r>
              <a:rPr sz="1000" b="0" i="0">
                <a:solidFill>
                  <a:srgbClr val="F0F4F8"/>
                </a:solidFill>
              </a:rPr>
              <a:t>What's next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Problem Statement</a:t>
            </a:r>
          </a:p>
        </p:txBody>
      </p:sp>
      <p:sp>
        <p:nvSpPr>
          <p:cNvPr id="4" name="Rectangle 3"/>
          <p:cNvSpPr/>
          <p:nvPr/>
        </p:nvSpPr>
        <p:spPr>
          <a:xfrm>
            <a:off x="320040" y="1097280"/>
            <a:ext cx="5577840" cy="155448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9728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207007"/>
            <a:ext cx="5212080" cy="384048"/>
          </a:xfrm>
          <a:prstGeom prst="rect">
            <a:avLst/>
          </a:prstGeom>
          <a:noFill/>
        </p:spPr>
        <p:txBody>
          <a:bodyPr wrap="square">
            <a:spAutoFit/>
          </a:bodyPr>
          <a:lstStyle/>
          <a:p>
            <a:pPr algn="l"/>
            <a:r>
              <a:rPr sz="1300" b="1" i="0">
                <a:solidFill>
                  <a:srgbClr val="FF6B35"/>
                </a:solidFill>
              </a:rPr>
              <a:t>⏱ Slow Resolution</a:t>
            </a:r>
          </a:p>
        </p:txBody>
      </p:sp>
      <p:sp>
        <p:nvSpPr>
          <p:cNvPr id="7" name="TextBox 6"/>
          <p:cNvSpPr txBox="1"/>
          <p:nvPr/>
        </p:nvSpPr>
        <p:spPr>
          <a:xfrm>
            <a:off x="502920" y="1600200"/>
            <a:ext cx="5212080" cy="914400"/>
          </a:xfrm>
          <a:prstGeom prst="rect">
            <a:avLst/>
          </a:prstGeom>
          <a:noFill/>
        </p:spPr>
        <p:txBody>
          <a:bodyPr wrap="square">
            <a:spAutoFit/>
          </a:bodyPr>
          <a:lstStyle/>
          <a:p>
            <a:pPr algn="l"/>
            <a:r>
              <a:rPr sz="1050" b="0" i="0">
                <a:solidFill>
                  <a:srgbClr val="F0F4F8"/>
                </a:solidFill>
              </a:rPr>
              <a:t>Support agents spend hours searching through emails, wikis, and old tickets to find relevant solutions.</a:t>
            </a:r>
          </a:p>
        </p:txBody>
      </p:sp>
      <p:sp>
        <p:nvSpPr>
          <p:cNvPr id="8" name="Rectangle 7"/>
          <p:cNvSpPr/>
          <p:nvPr/>
        </p:nvSpPr>
        <p:spPr>
          <a:xfrm>
            <a:off x="6263640" y="1097280"/>
            <a:ext cx="5577840" cy="1554480"/>
          </a:xfrm>
          <a:prstGeom prst="rect">
            <a:avLst/>
          </a:prstGeom>
          <a:solidFill>
            <a:srgbClr val="0F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09728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207007"/>
            <a:ext cx="5212080" cy="384048"/>
          </a:xfrm>
          <a:prstGeom prst="rect">
            <a:avLst/>
          </a:prstGeom>
          <a:noFill/>
        </p:spPr>
        <p:txBody>
          <a:bodyPr wrap="square">
            <a:spAutoFit/>
          </a:bodyPr>
          <a:lstStyle/>
          <a:p>
            <a:pPr algn="l"/>
            <a:r>
              <a:rPr sz="1300" b="1" i="0">
                <a:solidFill>
                  <a:srgbClr val="FF6B35"/>
                </a:solidFill>
              </a:rPr>
              <a:t>🔁 Repeated Work</a:t>
            </a:r>
          </a:p>
        </p:txBody>
      </p:sp>
      <p:sp>
        <p:nvSpPr>
          <p:cNvPr id="11" name="TextBox 10"/>
          <p:cNvSpPr txBox="1"/>
          <p:nvPr/>
        </p:nvSpPr>
        <p:spPr>
          <a:xfrm>
            <a:off x="6446520" y="1600200"/>
            <a:ext cx="5212080" cy="914400"/>
          </a:xfrm>
          <a:prstGeom prst="rect">
            <a:avLst/>
          </a:prstGeom>
          <a:noFill/>
        </p:spPr>
        <p:txBody>
          <a:bodyPr wrap="square">
            <a:spAutoFit/>
          </a:bodyPr>
          <a:lstStyle/>
          <a:p>
            <a:pPr algn="l"/>
            <a:r>
              <a:rPr sz="1050" b="0" i="0">
                <a:solidFill>
                  <a:srgbClr val="F0F4F8"/>
                </a:solidFill>
              </a:rPr>
              <a:t>The same issues are resolved from scratch every time because there's no centralised, searchable knowledge base.</a:t>
            </a:r>
          </a:p>
        </p:txBody>
      </p:sp>
      <p:sp>
        <p:nvSpPr>
          <p:cNvPr id="12" name="Rectangle 11"/>
          <p:cNvSpPr/>
          <p:nvPr/>
        </p:nvSpPr>
        <p:spPr>
          <a:xfrm>
            <a:off x="320040" y="2788920"/>
            <a:ext cx="5577840" cy="155448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78892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898648"/>
            <a:ext cx="5212080" cy="384048"/>
          </a:xfrm>
          <a:prstGeom prst="rect">
            <a:avLst/>
          </a:prstGeom>
          <a:noFill/>
        </p:spPr>
        <p:txBody>
          <a:bodyPr wrap="square">
            <a:spAutoFit/>
          </a:bodyPr>
          <a:lstStyle/>
          <a:p>
            <a:pPr algn="l"/>
            <a:r>
              <a:rPr sz="1300" b="1" i="0">
                <a:solidFill>
                  <a:srgbClr val="FF6B35"/>
                </a:solidFill>
              </a:rPr>
              <a:t>🌍 Multi-Region Complexity</a:t>
            </a:r>
          </a:p>
        </p:txBody>
      </p:sp>
      <p:sp>
        <p:nvSpPr>
          <p:cNvPr id="15" name="TextBox 14"/>
          <p:cNvSpPr txBox="1"/>
          <p:nvPr/>
        </p:nvSpPr>
        <p:spPr>
          <a:xfrm>
            <a:off x="502920" y="3291839"/>
            <a:ext cx="5212080" cy="914400"/>
          </a:xfrm>
          <a:prstGeom prst="rect">
            <a:avLst/>
          </a:prstGeom>
          <a:noFill/>
        </p:spPr>
        <p:txBody>
          <a:bodyPr wrap="square">
            <a:spAutoFit/>
          </a:bodyPr>
          <a:lstStyle/>
          <a:p>
            <a:pPr algn="l"/>
            <a:r>
              <a:rPr sz="1050" b="0" i="0">
                <a:solidFill>
                  <a:srgbClr val="F0F4F8"/>
                </a:solidFill>
              </a:rPr>
              <a:t>Different regions (India, US, Global) have different policies, infra setups, and resolution procedures.</a:t>
            </a:r>
          </a:p>
        </p:txBody>
      </p:sp>
      <p:sp>
        <p:nvSpPr>
          <p:cNvPr id="16" name="Rectangle 15"/>
          <p:cNvSpPr/>
          <p:nvPr/>
        </p:nvSpPr>
        <p:spPr>
          <a:xfrm>
            <a:off x="6263640" y="2788920"/>
            <a:ext cx="5577840" cy="1554480"/>
          </a:xfrm>
          <a:prstGeom prst="rect">
            <a:avLst/>
          </a:prstGeom>
          <a:solidFill>
            <a:srgbClr val="0F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78892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898648"/>
            <a:ext cx="5212080" cy="384048"/>
          </a:xfrm>
          <a:prstGeom prst="rect">
            <a:avLst/>
          </a:prstGeom>
          <a:noFill/>
        </p:spPr>
        <p:txBody>
          <a:bodyPr wrap="square">
            <a:spAutoFit/>
          </a:bodyPr>
          <a:lstStyle/>
          <a:p>
            <a:pPr algn="l"/>
            <a:r>
              <a:rPr sz="1300" b="1" i="0">
                <a:solidFill>
                  <a:srgbClr val="FF6B35"/>
                </a:solidFill>
              </a:rPr>
              <a:t>📋 Manual Ticket Routing</a:t>
            </a:r>
          </a:p>
        </p:txBody>
      </p:sp>
      <p:sp>
        <p:nvSpPr>
          <p:cNvPr id="19" name="TextBox 18"/>
          <p:cNvSpPr txBox="1"/>
          <p:nvPr/>
        </p:nvSpPr>
        <p:spPr>
          <a:xfrm>
            <a:off x="6446520" y="3291839"/>
            <a:ext cx="5212080" cy="914400"/>
          </a:xfrm>
          <a:prstGeom prst="rect">
            <a:avLst/>
          </a:prstGeom>
          <a:noFill/>
        </p:spPr>
        <p:txBody>
          <a:bodyPr wrap="square">
            <a:spAutoFit/>
          </a:bodyPr>
          <a:lstStyle/>
          <a:p>
            <a:pPr algn="l"/>
            <a:r>
              <a:rPr sz="1050" b="0" i="0">
                <a:solidFill>
                  <a:srgbClr val="F0F4F8"/>
                </a:solidFill>
              </a:rPr>
              <a:t>Tickets land in a generic queue — assigning them to the right team/person relies entirely on human judgement.</a:t>
            </a:r>
          </a:p>
        </p:txBody>
      </p:sp>
      <p:sp>
        <p:nvSpPr>
          <p:cNvPr id="20" name="Rectangle 19"/>
          <p:cNvSpPr/>
          <p:nvPr/>
        </p:nvSpPr>
        <p:spPr>
          <a:xfrm>
            <a:off x="320040" y="4480560"/>
            <a:ext cx="5577840" cy="155448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448056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4590288"/>
            <a:ext cx="5212080" cy="384048"/>
          </a:xfrm>
          <a:prstGeom prst="rect">
            <a:avLst/>
          </a:prstGeom>
          <a:noFill/>
        </p:spPr>
        <p:txBody>
          <a:bodyPr wrap="square">
            <a:spAutoFit/>
          </a:bodyPr>
          <a:lstStyle/>
          <a:p>
            <a:pPr algn="l"/>
            <a:r>
              <a:rPr sz="1300" b="1" i="0">
                <a:solidFill>
                  <a:srgbClr val="FF6B35"/>
                </a:solidFill>
              </a:rPr>
              <a:t>🔗 Siloed Tools</a:t>
            </a:r>
          </a:p>
        </p:txBody>
      </p:sp>
      <p:sp>
        <p:nvSpPr>
          <p:cNvPr id="23" name="TextBox 22"/>
          <p:cNvSpPr txBox="1"/>
          <p:nvPr/>
        </p:nvSpPr>
        <p:spPr>
          <a:xfrm>
            <a:off x="502920" y="4983480"/>
            <a:ext cx="5212080" cy="914400"/>
          </a:xfrm>
          <a:prstGeom prst="rect">
            <a:avLst/>
          </a:prstGeom>
          <a:noFill/>
        </p:spPr>
        <p:txBody>
          <a:bodyPr wrap="square">
            <a:spAutoFit/>
          </a:bodyPr>
          <a:lstStyle/>
          <a:p>
            <a:pPr algn="l"/>
            <a:r>
              <a:rPr sz="1050" b="0" i="0">
                <a:solidFill>
                  <a:srgbClr val="F0F4F8"/>
                </a:solidFill>
              </a:rPr>
              <a:t>Jira, ServiceNow, CRMs and other tools don't talk to each other, causing context loss and duplicate effort.</a:t>
            </a:r>
          </a:p>
        </p:txBody>
      </p:sp>
      <p:sp>
        <p:nvSpPr>
          <p:cNvPr id="24" name="Rectangle 23"/>
          <p:cNvSpPr/>
          <p:nvPr/>
        </p:nvSpPr>
        <p:spPr>
          <a:xfrm>
            <a:off x="6263640" y="4480560"/>
            <a:ext cx="5577840" cy="1554480"/>
          </a:xfrm>
          <a:prstGeom prst="rect">
            <a:avLst/>
          </a:prstGeom>
          <a:solidFill>
            <a:srgbClr val="0F22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4480560"/>
            <a:ext cx="54864" cy="1554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590288"/>
            <a:ext cx="5212080" cy="384048"/>
          </a:xfrm>
          <a:prstGeom prst="rect">
            <a:avLst/>
          </a:prstGeom>
          <a:noFill/>
        </p:spPr>
        <p:txBody>
          <a:bodyPr wrap="square">
            <a:spAutoFit/>
          </a:bodyPr>
          <a:lstStyle/>
          <a:p>
            <a:pPr algn="l"/>
            <a:r>
              <a:rPr sz="1300" b="1" i="0">
                <a:solidFill>
                  <a:srgbClr val="FF6B35"/>
                </a:solidFill>
              </a:rPr>
              <a:t>📉 No Priority Intelligence</a:t>
            </a:r>
          </a:p>
        </p:txBody>
      </p:sp>
      <p:sp>
        <p:nvSpPr>
          <p:cNvPr id="27" name="TextBox 26"/>
          <p:cNvSpPr txBox="1"/>
          <p:nvPr/>
        </p:nvSpPr>
        <p:spPr>
          <a:xfrm>
            <a:off x="6446520" y="4983480"/>
            <a:ext cx="5212080" cy="914400"/>
          </a:xfrm>
          <a:prstGeom prst="rect">
            <a:avLst/>
          </a:prstGeom>
          <a:noFill/>
        </p:spPr>
        <p:txBody>
          <a:bodyPr wrap="square">
            <a:spAutoFit/>
          </a:bodyPr>
          <a:lstStyle/>
          <a:p>
            <a:pPr algn="l"/>
            <a:r>
              <a:rPr sz="1050" b="0" i="0">
                <a:solidFill>
                  <a:srgbClr val="F0F4F8"/>
                </a:solidFill>
              </a:rPr>
              <a:t>Ticket priority is set manually or defaults to MEDIUM, causing critical issues to go unnoticed.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Solution Overview</a:t>
            </a:r>
          </a:p>
        </p:txBody>
      </p:sp>
      <p:sp>
        <p:nvSpPr>
          <p:cNvPr id="4" name="TextBox 3"/>
          <p:cNvSpPr txBox="1"/>
          <p:nvPr/>
        </p:nvSpPr>
        <p:spPr>
          <a:xfrm>
            <a:off x="365760" y="1051560"/>
            <a:ext cx="5303520" cy="1463040"/>
          </a:xfrm>
          <a:prstGeom prst="rect">
            <a:avLst/>
          </a:prstGeom>
          <a:noFill/>
        </p:spPr>
        <p:txBody>
          <a:bodyPr wrap="square">
            <a:spAutoFit/>
          </a:bodyPr>
          <a:lstStyle/>
          <a:p>
            <a:pPr algn="l"/>
            <a:r>
              <a:rPr sz="1250" b="0" i="0">
                <a:solidFill>
                  <a:srgbClr val="F0F4F8"/>
                </a:solidFill>
              </a:rPr>
              <a:t>An AI-powered support ticket resolution system built on Retrieval-Augmented Generation (RAG). It ingests historical tickets, internal documents, and policy PDFs to create a searchable, intelligent knowledge base that answers support queries with cited sources and confidence scores.</a:t>
            </a:r>
          </a:p>
        </p:txBody>
      </p:sp>
      <p:sp>
        <p:nvSpPr>
          <p:cNvPr id="5" name="Rectangle 4"/>
          <p:cNvSpPr/>
          <p:nvPr/>
        </p:nvSpPr>
        <p:spPr>
          <a:xfrm>
            <a:off x="320040" y="2697480"/>
            <a:ext cx="2743200" cy="41148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2752344"/>
            <a:ext cx="2560320" cy="320040"/>
          </a:xfrm>
          <a:prstGeom prst="rect">
            <a:avLst/>
          </a:prstGeom>
          <a:noFill/>
        </p:spPr>
        <p:txBody>
          <a:bodyPr wrap="square">
            <a:spAutoFit/>
          </a:bodyPr>
          <a:lstStyle/>
          <a:p>
            <a:pPr algn="l"/>
            <a:r>
              <a:rPr sz="1300" b="1" i="0">
                <a:solidFill>
                  <a:srgbClr val="FFFFFF"/>
                </a:solidFill>
              </a:rPr>
              <a:t>📥 Ingest</a:t>
            </a:r>
          </a:p>
        </p:txBody>
      </p:sp>
      <p:sp>
        <p:nvSpPr>
          <p:cNvPr id="7" name="Rectangle 6"/>
          <p:cNvSpPr/>
          <p:nvPr/>
        </p:nvSpPr>
        <p:spPr>
          <a:xfrm>
            <a:off x="320040" y="3108960"/>
            <a:ext cx="2743200" cy="128016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3200400"/>
            <a:ext cx="2468880" cy="1097280"/>
          </a:xfrm>
          <a:prstGeom prst="rect">
            <a:avLst/>
          </a:prstGeom>
          <a:noFill/>
        </p:spPr>
        <p:txBody>
          <a:bodyPr wrap="square">
            <a:spAutoFit/>
          </a:bodyPr>
          <a:lstStyle/>
          <a:p>
            <a:pPr algn="l"/>
            <a:r>
              <a:rPr sz="1100" b="0" i="0">
                <a:solidFill>
                  <a:srgbClr val="F0F4F8"/>
                </a:solidFill>
              </a:rPr>
              <a:t>PDF, DOCX, JSON
ticket resolutions</a:t>
            </a:r>
          </a:p>
        </p:txBody>
      </p:sp>
      <p:sp>
        <p:nvSpPr>
          <p:cNvPr id="9" name="Rectangle 8"/>
          <p:cNvSpPr/>
          <p:nvPr/>
        </p:nvSpPr>
        <p:spPr>
          <a:xfrm>
            <a:off x="3264408" y="2697480"/>
            <a:ext cx="2743200" cy="4114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55848" y="2752344"/>
            <a:ext cx="2560320" cy="320040"/>
          </a:xfrm>
          <a:prstGeom prst="rect">
            <a:avLst/>
          </a:prstGeom>
          <a:noFill/>
        </p:spPr>
        <p:txBody>
          <a:bodyPr wrap="square">
            <a:spAutoFit/>
          </a:bodyPr>
          <a:lstStyle/>
          <a:p>
            <a:pPr algn="l"/>
            <a:r>
              <a:rPr sz="1300" b="1" i="0">
                <a:solidFill>
                  <a:srgbClr val="FFFFFF"/>
                </a:solidFill>
              </a:rPr>
              <a:t>🔍 Retrieve</a:t>
            </a:r>
          </a:p>
        </p:txBody>
      </p:sp>
      <p:sp>
        <p:nvSpPr>
          <p:cNvPr id="11" name="Rectangle 10"/>
          <p:cNvSpPr/>
          <p:nvPr/>
        </p:nvSpPr>
        <p:spPr>
          <a:xfrm>
            <a:off x="3264408" y="3108960"/>
            <a:ext cx="2743200" cy="128016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01568" y="3200400"/>
            <a:ext cx="2468880" cy="1097280"/>
          </a:xfrm>
          <a:prstGeom prst="rect">
            <a:avLst/>
          </a:prstGeom>
          <a:noFill/>
        </p:spPr>
        <p:txBody>
          <a:bodyPr wrap="square">
            <a:spAutoFit/>
          </a:bodyPr>
          <a:lstStyle/>
          <a:p>
            <a:pPr algn="l"/>
            <a:r>
              <a:rPr sz="1100" b="0" i="0">
                <a:solidFill>
                  <a:srgbClr val="F0F4F8"/>
                </a:solidFill>
              </a:rPr>
              <a:t>Semantic vector
search via ChromaDB</a:t>
            </a:r>
          </a:p>
        </p:txBody>
      </p:sp>
      <p:sp>
        <p:nvSpPr>
          <p:cNvPr id="13" name="Rectangle 12"/>
          <p:cNvSpPr/>
          <p:nvPr/>
        </p:nvSpPr>
        <p:spPr>
          <a:xfrm>
            <a:off x="6208776" y="2697480"/>
            <a:ext cx="2743200" cy="41148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00216" y="2752344"/>
            <a:ext cx="2560320" cy="320040"/>
          </a:xfrm>
          <a:prstGeom prst="rect">
            <a:avLst/>
          </a:prstGeom>
          <a:noFill/>
        </p:spPr>
        <p:txBody>
          <a:bodyPr wrap="square">
            <a:spAutoFit/>
          </a:bodyPr>
          <a:lstStyle/>
          <a:p>
            <a:pPr algn="l"/>
            <a:r>
              <a:rPr sz="1300" b="1" i="0">
                <a:solidFill>
                  <a:srgbClr val="FFFFFF"/>
                </a:solidFill>
              </a:rPr>
              <a:t>🤖 Generate</a:t>
            </a:r>
          </a:p>
        </p:txBody>
      </p:sp>
      <p:sp>
        <p:nvSpPr>
          <p:cNvPr id="15" name="Rectangle 14"/>
          <p:cNvSpPr/>
          <p:nvPr/>
        </p:nvSpPr>
        <p:spPr>
          <a:xfrm>
            <a:off x="6208776" y="3108960"/>
            <a:ext cx="2743200" cy="128016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5936" y="3200400"/>
            <a:ext cx="2468880" cy="1097280"/>
          </a:xfrm>
          <a:prstGeom prst="rect">
            <a:avLst/>
          </a:prstGeom>
          <a:noFill/>
        </p:spPr>
        <p:txBody>
          <a:bodyPr wrap="square">
            <a:spAutoFit/>
          </a:bodyPr>
          <a:lstStyle/>
          <a:p>
            <a:pPr algn="l"/>
            <a:r>
              <a:rPr sz="1100" b="0" i="0">
                <a:solidFill>
                  <a:srgbClr val="F0F4F8"/>
                </a:solidFill>
              </a:rPr>
              <a:t>Cohere LLM with
streaming answers</a:t>
            </a:r>
          </a:p>
        </p:txBody>
      </p:sp>
      <p:sp>
        <p:nvSpPr>
          <p:cNvPr id="17" name="Rectangle 16"/>
          <p:cNvSpPr/>
          <p:nvPr/>
        </p:nvSpPr>
        <p:spPr>
          <a:xfrm>
            <a:off x="9153144" y="2697480"/>
            <a:ext cx="2743200" cy="411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44584" y="2752344"/>
            <a:ext cx="2560320" cy="320040"/>
          </a:xfrm>
          <a:prstGeom prst="rect">
            <a:avLst/>
          </a:prstGeom>
          <a:noFill/>
        </p:spPr>
        <p:txBody>
          <a:bodyPr wrap="square">
            <a:spAutoFit/>
          </a:bodyPr>
          <a:lstStyle/>
          <a:p>
            <a:pPr algn="l"/>
            <a:r>
              <a:rPr sz="1300" b="1" i="0">
                <a:solidFill>
                  <a:srgbClr val="FFFFFF"/>
                </a:solidFill>
              </a:rPr>
              <a:t>📊 Cite</a:t>
            </a:r>
          </a:p>
        </p:txBody>
      </p:sp>
      <p:sp>
        <p:nvSpPr>
          <p:cNvPr id="19" name="Rectangle 18"/>
          <p:cNvSpPr/>
          <p:nvPr/>
        </p:nvSpPr>
        <p:spPr>
          <a:xfrm>
            <a:off x="9153144" y="3108960"/>
            <a:ext cx="2743200" cy="1280160"/>
          </a:xfrm>
          <a:prstGeom prst="rect">
            <a:avLst/>
          </a:prstGeom>
          <a:solidFill>
            <a:srgbClr val="142A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90304" y="3200400"/>
            <a:ext cx="2468880" cy="1097280"/>
          </a:xfrm>
          <a:prstGeom prst="rect">
            <a:avLst/>
          </a:prstGeom>
          <a:noFill/>
        </p:spPr>
        <p:txBody>
          <a:bodyPr wrap="square">
            <a:spAutoFit/>
          </a:bodyPr>
          <a:lstStyle/>
          <a:p>
            <a:pPr algn="l"/>
            <a:r>
              <a:rPr sz="1100" b="0" i="0">
                <a:solidFill>
                  <a:srgbClr val="F0F4F8"/>
                </a:solidFill>
              </a:rPr>
              <a:t>Sources, confidence
&amp; audit log</a:t>
            </a:r>
          </a:p>
        </p:txBody>
      </p:sp>
      <p:sp>
        <p:nvSpPr>
          <p:cNvPr id="21" name="TextBox 20"/>
          <p:cNvSpPr txBox="1"/>
          <p:nvPr/>
        </p:nvSpPr>
        <p:spPr>
          <a:xfrm>
            <a:off x="2971800" y="2834640"/>
            <a:ext cx="228600" cy="228600"/>
          </a:xfrm>
          <a:prstGeom prst="rect">
            <a:avLst/>
          </a:prstGeom>
          <a:noFill/>
        </p:spPr>
        <p:txBody>
          <a:bodyPr wrap="square">
            <a:spAutoFit/>
          </a:bodyPr>
          <a:lstStyle/>
          <a:p>
            <a:pPr algn="l"/>
            <a:r>
              <a:rPr sz="1800" b="1" i="0">
                <a:solidFill>
                  <a:srgbClr val="1B6CA8"/>
                </a:solidFill>
              </a:rPr>
              <a:t>→</a:t>
            </a:r>
          </a:p>
        </p:txBody>
      </p:sp>
      <p:sp>
        <p:nvSpPr>
          <p:cNvPr id="22" name="TextBox 21"/>
          <p:cNvSpPr txBox="1"/>
          <p:nvPr/>
        </p:nvSpPr>
        <p:spPr>
          <a:xfrm>
            <a:off x="5916168" y="2834640"/>
            <a:ext cx="228600" cy="228600"/>
          </a:xfrm>
          <a:prstGeom prst="rect">
            <a:avLst/>
          </a:prstGeom>
          <a:noFill/>
        </p:spPr>
        <p:txBody>
          <a:bodyPr wrap="square">
            <a:spAutoFit/>
          </a:bodyPr>
          <a:lstStyle/>
          <a:p>
            <a:pPr algn="l"/>
            <a:r>
              <a:rPr sz="1800" b="1" i="0">
                <a:solidFill>
                  <a:srgbClr val="1B6CA8"/>
                </a:solidFill>
              </a:rPr>
              <a:t>→</a:t>
            </a:r>
          </a:p>
        </p:txBody>
      </p:sp>
      <p:sp>
        <p:nvSpPr>
          <p:cNvPr id="23" name="TextBox 22"/>
          <p:cNvSpPr txBox="1"/>
          <p:nvPr/>
        </p:nvSpPr>
        <p:spPr>
          <a:xfrm>
            <a:off x="8860536" y="2834640"/>
            <a:ext cx="228600" cy="228600"/>
          </a:xfrm>
          <a:prstGeom prst="rect">
            <a:avLst/>
          </a:prstGeom>
          <a:noFill/>
        </p:spPr>
        <p:txBody>
          <a:bodyPr wrap="square">
            <a:spAutoFit/>
          </a:bodyPr>
          <a:lstStyle/>
          <a:p>
            <a:pPr algn="l"/>
            <a:r>
              <a:rPr sz="1800" b="1" i="0">
                <a:solidFill>
                  <a:srgbClr val="1B6CA8"/>
                </a:solidFill>
              </a:rPr>
              <a:t>→</a:t>
            </a:r>
          </a:p>
        </p:txBody>
      </p:sp>
      <p:sp>
        <p:nvSpPr>
          <p:cNvPr id="24" name="TextBox 23"/>
          <p:cNvSpPr txBox="1"/>
          <p:nvPr/>
        </p:nvSpPr>
        <p:spPr>
          <a:xfrm>
            <a:off x="365760" y="4160520"/>
            <a:ext cx="4572000" cy="320040"/>
          </a:xfrm>
          <a:prstGeom prst="rect">
            <a:avLst/>
          </a:prstGeom>
          <a:noFill/>
        </p:spPr>
        <p:txBody>
          <a:bodyPr wrap="square">
            <a:spAutoFit/>
          </a:bodyPr>
          <a:lstStyle/>
          <a:p>
            <a:pPr algn="l"/>
            <a:r>
              <a:rPr sz="1300" b="1" i="0">
                <a:solidFill>
                  <a:srgbClr val="4FA3D8"/>
                </a:solidFill>
              </a:rPr>
              <a:t>Core Capabilities</a:t>
            </a:r>
          </a:p>
        </p:txBody>
      </p:sp>
      <p:sp>
        <p:nvSpPr>
          <p:cNvPr id="25" name="TextBox 24"/>
          <p:cNvSpPr txBox="1"/>
          <p:nvPr/>
        </p:nvSpPr>
        <p:spPr>
          <a:xfrm>
            <a:off x="365760" y="4526280"/>
            <a:ext cx="11430000" cy="320040"/>
          </a:xfrm>
          <a:prstGeom prst="rect">
            <a:avLst/>
          </a:prstGeom>
          <a:noFill/>
        </p:spPr>
        <p:txBody>
          <a:bodyPr wrap="square">
            <a:spAutoFit/>
          </a:bodyPr>
          <a:lstStyle/>
          <a:p>
            <a:pPr algn="l"/>
            <a:r>
              <a:rPr sz="1100" b="0" i="0">
                <a:solidFill>
                  <a:srgbClr val="F0F4F8"/>
                </a:solidFill>
              </a:rPr>
              <a:t>▸ Multi-region filtering (All / India / US)</a:t>
            </a:r>
          </a:p>
        </p:txBody>
      </p:sp>
      <p:sp>
        <p:nvSpPr>
          <p:cNvPr id="26" name="TextBox 25"/>
          <p:cNvSpPr txBox="1"/>
          <p:nvPr/>
        </p:nvSpPr>
        <p:spPr>
          <a:xfrm>
            <a:off x="365760" y="4873752"/>
            <a:ext cx="11430000" cy="320040"/>
          </a:xfrm>
          <a:prstGeom prst="rect">
            <a:avLst/>
          </a:prstGeom>
          <a:noFill/>
        </p:spPr>
        <p:txBody>
          <a:bodyPr wrap="square">
            <a:spAutoFit/>
          </a:bodyPr>
          <a:lstStyle/>
          <a:p>
            <a:pPr algn="l"/>
            <a:r>
              <a:rPr sz="1100" b="0" i="0">
                <a:solidFill>
                  <a:srgbClr val="F0F4F8"/>
                </a:solidFill>
              </a:rPr>
              <a:t>▸ Department-scoped search (Infra, HR, Finance, General)</a:t>
            </a:r>
          </a:p>
        </p:txBody>
      </p:sp>
      <p:sp>
        <p:nvSpPr>
          <p:cNvPr id="27" name="TextBox 26"/>
          <p:cNvSpPr txBox="1"/>
          <p:nvPr/>
        </p:nvSpPr>
        <p:spPr>
          <a:xfrm>
            <a:off x="365760" y="5221224"/>
            <a:ext cx="11430000" cy="320040"/>
          </a:xfrm>
          <a:prstGeom prst="rect">
            <a:avLst/>
          </a:prstGeom>
          <a:noFill/>
        </p:spPr>
        <p:txBody>
          <a:bodyPr wrap="square">
            <a:spAutoFit/>
          </a:bodyPr>
          <a:lstStyle/>
          <a:p>
            <a:pPr algn="l"/>
            <a:r>
              <a:rPr sz="1100" b="0" i="0">
                <a:solidFill>
                  <a:srgbClr val="F0F4F8"/>
                </a:solidFill>
              </a:rPr>
              <a:t>▸ Streaming chat UI with confidence metric</a:t>
            </a:r>
          </a:p>
        </p:txBody>
      </p:sp>
      <p:sp>
        <p:nvSpPr>
          <p:cNvPr id="28" name="TextBox 27"/>
          <p:cNvSpPr txBox="1"/>
          <p:nvPr/>
        </p:nvSpPr>
        <p:spPr>
          <a:xfrm>
            <a:off x="365760" y="5568696"/>
            <a:ext cx="11430000" cy="320040"/>
          </a:xfrm>
          <a:prstGeom prst="rect">
            <a:avLst/>
          </a:prstGeom>
          <a:noFill/>
        </p:spPr>
        <p:txBody>
          <a:bodyPr wrap="square">
            <a:spAutoFit/>
          </a:bodyPr>
          <a:lstStyle/>
          <a:p>
            <a:pPr algn="l"/>
            <a:r>
              <a:rPr sz="1100" b="0" i="0">
                <a:solidFill>
                  <a:srgbClr val="F0F4F8"/>
                </a:solidFill>
              </a:rPr>
              <a:t>▸ Admin panel: upload, list &amp; delete documents</a:t>
            </a:r>
          </a:p>
        </p:txBody>
      </p:sp>
      <p:sp>
        <p:nvSpPr>
          <p:cNvPr id="29" name="TextBox 28"/>
          <p:cNvSpPr txBox="1"/>
          <p:nvPr/>
        </p:nvSpPr>
        <p:spPr>
          <a:xfrm>
            <a:off x="365760" y="5916168"/>
            <a:ext cx="11430000" cy="320040"/>
          </a:xfrm>
          <a:prstGeom prst="rect">
            <a:avLst/>
          </a:prstGeom>
          <a:noFill/>
        </p:spPr>
        <p:txBody>
          <a:bodyPr wrap="square">
            <a:spAutoFit/>
          </a:bodyPr>
          <a:lstStyle/>
          <a:p>
            <a:pPr algn="l"/>
            <a:r>
              <a:rPr sz="1100" b="0" i="0">
                <a:solidFill>
                  <a:srgbClr val="F0F4F8"/>
                </a:solidFill>
              </a:rPr>
              <a:t>▸ Query audit logging (JSONL)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System Architecture</a:t>
            </a:r>
          </a:p>
        </p:txBody>
      </p:sp>
      <p:sp>
        <p:nvSpPr>
          <p:cNvPr id="4" name="TextBox 3"/>
          <p:cNvSpPr txBox="1"/>
          <p:nvPr/>
        </p:nvSpPr>
        <p:spPr>
          <a:xfrm>
            <a:off x="365760" y="1005840"/>
            <a:ext cx="3200400" cy="274320"/>
          </a:xfrm>
          <a:prstGeom prst="rect">
            <a:avLst/>
          </a:prstGeom>
          <a:noFill/>
        </p:spPr>
        <p:txBody>
          <a:bodyPr wrap="square">
            <a:spAutoFit/>
          </a:bodyPr>
          <a:lstStyle/>
          <a:p>
            <a:pPr algn="l"/>
            <a:r>
              <a:rPr sz="900" b="1" i="0">
                <a:solidFill>
                  <a:srgbClr val="FF6B35"/>
                </a:solidFill>
              </a:rPr>
              <a:t>INGESTION PIPELINE</a:t>
            </a:r>
          </a:p>
        </p:txBody>
      </p:sp>
      <p:sp>
        <p:nvSpPr>
          <p:cNvPr id="5" name="Rectangle 4"/>
          <p:cNvSpPr/>
          <p:nvPr/>
        </p:nvSpPr>
        <p:spPr>
          <a:xfrm>
            <a:off x="320040" y="1298448"/>
            <a:ext cx="2103120" cy="8229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1389888"/>
            <a:ext cx="1920240" cy="640080"/>
          </a:xfrm>
          <a:prstGeom prst="rect">
            <a:avLst/>
          </a:prstGeom>
          <a:noFill/>
        </p:spPr>
        <p:txBody>
          <a:bodyPr wrap="square">
            <a:spAutoFit/>
          </a:bodyPr>
          <a:lstStyle/>
          <a:p>
            <a:pPr algn="ctr"/>
            <a:r>
              <a:rPr sz="1100" b="1" i="0">
                <a:solidFill>
                  <a:srgbClr val="FFFFFF"/>
                </a:solidFill>
              </a:rPr>
              <a:t>PDF / DOCX
Documents</a:t>
            </a:r>
          </a:p>
        </p:txBody>
      </p:sp>
      <p:sp>
        <p:nvSpPr>
          <p:cNvPr id="7" name="TextBox 6"/>
          <p:cNvSpPr txBox="1"/>
          <p:nvPr/>
        </p:nvSpPr>
        <p:spPr>
          <a:xfrm>
            <a:off x="2441448" y="1572768"/>
            <a:ext cx="256032" cy="256032"/>
          </a:xfrm>
          <a:prstGeom prst="rect">
            <a:avLst/>
          </a:prstGeom>
          <a:noFill/>
        </p:spPr>
        <p:txBody>
          <a:bodyPr wrap="square">
            <a:spAutoFit/>
          </a:bodyPr>
          <a:lstStyle/>
          <a:p>
            <a:pPr algn="l"/>
            <a:r>
              <a:rPr sz="1400" b="1" i="0">
                <a:solidFill>
                  <a:srgbClr val="4FA3D8"/>
                </a:solidFill>
              </a:rPr>
              <a:t>→</a:t>
            </a:r>
          </a:p>
        </p:txBody>
      </p:sp>
      <p:sp>
        <p:nvSpPr>
          <p:cNvPr id="8" name="Rectangle 7"/>
          <p:cNvSpPr/>
          <p:nvPr/>
        </p:nvSpPr>
        <p:spPr>
          <a:xfrm>
            <a:off x="2670048" y="1298448"/>
            <a:ext cx="2103120" cy="822960"/>
          </a:xfrm>
          <a:prstGeom prst="rect">
            <a:avLst/>
          </a:prstGeom>
          <a:solidFill>
            <a:srgbClr val="14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761488" y="1389888"/>
            <a:ext cx="1920240" cy="640080"/>
          </a:xfrm>
          <a:prstGeom prst="rect">
            <a:avLst/>
          </a:prstGeom>
          <a:noFill/>
        </p:spPr>
        <p:txBody>
          <a:bodyPr wrap="square">
            <a:spAutoFit/>
          </a:bodyPr>
          <a:lstStyle/>
          <a:p>
            <a:pPr algn="ctr"/>
            <a:r>
              <a:rPr sz="1100" b="1" i="0">
                <a:solidFill>
                  <a:srgbClr val="FFFFFF"/>
                </a:solidFill>
              </a:rPr>
              <a:t>Document
Loader</a:t>
            </a:r>
          </a:p>
        </p:txBody>
      </p:sp>
      <p:sp>
        <p:nvSpPr>
          <p:cNvPr id="10" name="TextBox 9"/>
          <p:cNvSpPr txBox="1"/>
          <p:nvPr/>
        </p:nvSpPr>
        <p:spPr>
          <a:xfrm>
            <a:off x="4791456" y="1572768"/>
            <a:ext cx="256032" cy="256032"/>
          </a:xfrm>
          <a:prstGeom prst="rect">
            <a:avLst/>
          </a:prstGeom>
          <a:noFill/>
        </p:spPr>
        <p:txBody>
          <a:bodyPr wrap="square">
            <a:spAutoFit/>
          </a:bodyPr>
          <a:lstStyle/>
          <a:p>
            <a:pPr algn="l"/>
            <a:r>
              <a:rPr sz="1400" b="1" i="0">
                <a:solidFill>
                  <a:srgbClr val="4FA3D8"/>
                </a:solidFill>
              </a:rPr>
              <a:t>→</a:t>
            </a:r>
          </a:p>
        </p:txBody>
      </p:sp>
      <p:sp>
        <p:nvSpPr>
          <p:cNvPr id="11" name="Rectangle 10"/>
          <p:cNvSpPr/>
          <p:nvPr/>
        </p:nvSpPr>
        <p:spPr>
          <a:xfrm>
            <a:off x="5020055" y="1298448"/>
            <a:ext cx="2103120" cy="822960"/>
          </a:xfrm>
          <a:prstGeom prst="rect">
            <a:avLst/>
          </a:prstGeom>
          <a:solidFill>
            <a:srgbClr val="144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11495" y="1389888"/>
            <a:ext cx="1920240" cy="640080"/>
          </a:xfrm>
          <a:prstGeom prst="rect">
            <a:avLst/>
          </a:prstGeom>
          <a:noFill/>
        </p:spPr>
        <p:txBody>
          <a:bodyPr wrap="square">
            <a:spAutoFit/>
          </a:bodyPr>
          <a:lstStyle/>
          <a:p>
            <a:pPr algn="ctr"/>
            <a:r>
              <a:rPr sz="1100" b="1" i="0">
                <a:solidFill>
                  <a:srgbClr val="FFFFFF"/>
                </a:solidFill>
              </a:rPr>
              <a:t>Text
Chunker</a:t>
            </a:r>
          </a:p>
        </p:txBody>
      </p:sp>
      <p:sp>
        <p:nvSpPr>
          <p:cNvPr id="13" name="TextBox 12"/>
          <p:cNvSpPr txBox="1"/>
          <p:nvPr/>
        </p:nvSpPr>
        <p:spPr>
          <a:xfrm>
            <a:off x="7141463" y="1572768"/>
            <a:ext cx="256032" cy="256032"/>
          </a:xfrm>
          <a:prstGeom prst="rect">
            <a:avLst/>
          </a:prstGeom>
          <a:noFill/>
        </p:spPr>
        <p:txBody>
          <a:bodyPr wrap="square">
            <a:spAutoFit/>
          </a:bodyPr>
          <a:lstStyle/>
          <a:p>
            <a:pPr algn="l"/>
            <a:r>
              <a:rPr sz="1400" b="1" i="0">
                <a:solidFill>
                  <a:srgbClr val="4FA3D8"/>
                </a:solidFill>
              </a:rPr>
              <a:t>→</a:t>
            </a:r>
          </a:p>
        </p:txBody>
      </p:sp>
      <p:sp>
        <p:nvSpPr>
          <p:cNvPr id="14" name="Rectangle 13"/>
          <p:cNvSpPr/>
          <p:nvPr/>
        </p:nvSpPr>
        <p:spPr>
          <a:xfrm>
            <a:off x="7370063" y="1298448"/>
            <a:ext cx="2103120"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61503" y="1389888"/>
            <a:ext cx="1920240" cy="640080"/>
          </a:xfrm>
          <a:prstGeom prst="rect">
            <a:avLst/>
          </a:prstGeom>
          <a:noFill/>
        </p:spPr>
        <p:txBody>
          <a:bodyPr wrap="square">
            <a:spAutoFit/>
          </a:bodyPr>
          <a:lstStyle/>
          <a:p>
            <a:pPr algn="ctr"/>
            <a:r>
              <a:rPr sz="1100" b="1" i="0">
                <a:solidFill>
                  <a:srgbClr val="FFFFFF"/>
                </a:solidFill>
              </a:rPr>
              <a:t>Cohere
Embeddings</a:t>
            </a:r>
          </a:p>
        </p:txBody>
      </p:sp>
      <p:sp>
        <p:nvSpPr>
          <p:cNvPr id="16" name="TextBox 15"/>
          <p:cNvSpPr txBox="1"/>
          <p:nvPr/>
        </p:nvSpPr>
        <p:spPr>
          <a:xfrm>
            <a:off x="9491472" y="1572768"/>
            <a:ext cx="256032" cy="256032"/>
          </a:xfrm>
          <a:prstGeom prst="rect">
            <a:avLst/>
          </a:prstGeom>
          <a:noFill/>
        </p:spPr>
        <p:txBody>
          <a:bodyPr wrap="square">
            <a:spAutoFit/>
          </a:bodyPr>
          <a:lstStyle/>
          <a:p>
            <a:pPr algn="l"/>
            <a:r>
              <a:rPr sz="1400" b="1" i="0">
                <a:solidFill>
                  <a:srgbClr val="4FA3D8"/>
                </a:solidFill>
              </a:rPr>
              <a:t>→</a:t>
            </a:r>
          </a:p>
        </p:txBody>
      </p:sp>
      <p:sp>
        <p:nvSpPr>
          <p:cNvPr id="17" name="Rectangle 16"/>
          <p:cNvSpPr/>
          <p:nvPr/>
        </p:nvSpPr>
        <p:spPr>
          <a:xfrm>
            <a:off x="9720072" y="1298448"/>
            <a:ext cx="2103120"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811511" y="1389888"/>
            <a:ext cx="1920240" cy="640080"/>
          </a:xfrm>
          <a:prstGeom prst="rect">
            <a:avLst/>
          </a:prstGeom>
          <a:noFill/>
        </p:spPr>
        <p:txBody>
          <a:bodyPr wrap="square">
            <a:spAutoFit/>
          </a:bodyPr>
          <a:lstStyle/>
          <a:p>
            <a:pPr algn="ctr"/>
            <a:r>
              <a:rPr sz="1100" b="1" i="0">
                <a:solidFill>
                  <a:srgbClr val="FFFFFF"/>
                </a:solidFill>
              </a:rPr>
              <a:t>ChromaDB
Vector Store</a:t>
            </a:r>
          </a:p>
        </p:txBody>
      </p:sp>
      <p:sp>
        <p:nvSpPr>
          <p:cNvPr id="19" name="TextBox 18"/>
          <p:cNvSpPr txBox="1"/>
          <p:nvPr/>
        </p:nvSpPr>
        <p:spPr>
          <a:xfrm>
            <a:off x="320040" y="2304288"/>
            <a:ext cx="2103120" cy="640080"/>
          </a:xfrm>
          <a:prstGeom prst="rect">
            <a:avLst/>
          </a:prstGeom>
          <a:noFill/>
        </p:spPr>
        <p:txBody>
          <a:bodyPr wrap="square">
            <a:spAutoFit/>
          </a:bodyPr>
          <a:lstStyle/>
          <a:p>
            <a:pPr algn="l"/>
            <a:r>
              <a:rPr sz="1800" b="0" i="0">
                <a:solidFill>
                  <a:srgbClr val="FFFFFF"/>
                </a:solidFill>
              </a:rPr>
              <a:t>Ticket
JSON</a:t>
            </a:r>
          </a:p>
        </p:txBody>
      </p:sp>
      <p:sp>
        <p:nvSpPr>
          <p:cNvPr id="20" name="Rectangle 19"/>
          <p:cNvSpPr/>
          <p:nvPr/>
        </p:nvSpPr>
        <p:spPr>
          <a:xfrm>
            <a:off x="320040" y="2304288"/>
            <a:ext cx="2103120" cy="64008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2359152"/>
            <a:ext cx="1920240" cy="548640"/>
          </a:xfrm>
          <a:prstGeom prst="rect">
            <a:avLst/>
          </a:prstGeom>
          <a:noFill/>
        </p:spPr>
        <p:txBody>
          <a:bodyPr wrap="square">
            <a:spAutoFit/>
          </a:bodyPr>
          <a:lstStyle/>
          <a:p>
            <a:pPr algn="ctr"/>
            <a:r>
              <a:rPr sz="1000" b="1" i="0">
                <a:solidFill>
                  <a:srgbClr val="FFFFFF"/>
                </a:solidFill>
              </a:rPr>
              <a:t>Ticket JSON
Resolutions</a:t>
            </a:r>
          </a:p>
        </p:txBody>
      </p:sp>
      <p:sp>
        <p:nvSpPr>
          <p:cNvPr id="22" name="TextBox 21"/>
          <p:cNvSpPr txBox="1"/>
          <p:nvPr/>
        </p:nvSpPr>
        <p:spPr>
          <a:xfrm>
            <a:off x="2441448" y="2331720"/>
            <a:ext cx="256032" cy="256032"/>
          </a:xfrm>
          <a:prstGeom prst="rect">
            <a:avLst/>
          </a:prstGeom>
          <a:noFill/>
        </p:spPr>
        <p:txBody>
          <a:bodyPr wrap="square">
            <a:spAutoFit/>
          </a:bodyPr>
          <a:lstStyle/>
          <a:p>
            <a:pPr algn="l"/>
            <a:r>
              <a:rPr sz="1400" b="1" i="0">
                <a:solidFill>
                  <a:srgbClr val="4FA3D8"/>
                </a:solidFill>
              </a:rPr>
              <a:t>↗</a:t>
            </a:r>
          </a:p>
        </p:txBody>
      </p:sp>
      <p:sp>
        <p:nvSpPr>
          <p:cNvPr id="23" name="TextBox 22"/>
          <p:cNvSpPr txBox="1"/>
          <p:nvPr/>
        </p:nvSpPr>
        <p:spPr>
          <a:xfrm>
            <a:off x="365760" y="3063240"/>
            <a:ext cx="3200400" cy="274320"/>
          </a:xfrm>
          <a:prstGeom prst="rect">
            <a:avLst/>
          </a:prstGeom>
          <a:noFill/>
        </p:spPr>
        <p:txBody>
          <a:bodyPr wrap="square">
            <a:spAutoFit/>
          </a:bodyPr>
          <a:lstStyle/>
          <a:p>
            <a:pPr algn="l"/>
            <a:r>
              <a:rPr sz="900" b="1" i="0">
                <a:solidFill>
                  <a:srgbClr val="2ECC71"/>
                </a:solidFill>
              </a:rPr>
              <a:t>QUERY PIPELINE</a:t>
            </a:r>
          </a:p>
        </p:txBody>
      </p:sp>
      <p:sp>
        <p:nvSpPr>
          <p:cNvPr id="24" name="Rectangle 23"/>
          <p:cNvSpPr/>
          <p:nvPr/>
        </p:nvSpPr>
        <p:spPr>
          <a:xfrm>
            <a:off x="320040" y="3337560"/>
            <a:ext cx="2103120" cy="8229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79" y="3429000"/>
            <a:ext cx="1920240" cy="640080"/>
          </a:xfrm>
          <a:prstGeom prst="rect">
            <a:avLst/>
          </a:prstGeom>
          <a:noFill/>
        </p:spPr>
        <p:txBody>
          <a:bodyPr wrap="square">
            <a:spAutoFit/>
          </a:bodyPr>
          <a:lstStyle/>
          <a:p>
            <a:pPr algn="ctr"/>
            <a:r>
              <a:rPr sz="1100" b="1" i="0">
                <a:solidFill>
                  <a:srgbClr val="FFFFFF"/>
                </a:solidFill>
              </a:rPr>
              <a:t>User
Question</a:t>
            </a:r>
          </a:p>
        </p:txBody>
      </p:sp>
      <p:sp>
        <p:nvSpPr>
          <p:cNvPr id="26" name="TextBox 25"/>
          <p:cNvSpPr txBox="1"/>
          <p:nvPr/>
        </p:nvSpPr>
        <p:spPr>
          <a:xfrm>
            <a:off x="2441448" y="3611880"/>
            <a:ext cx="256032" cy="256032"/>
          </a:xfrm>
          <a:prstGeom prst="rect">
            <a:avLst/>
          </a:prstGeom>
          <a:noFill/>
        </p:spPr>
        <p:txBody>
          <a:bodyPr wrap="square">
            <a:spAutoFit/>
          </a:bodyPr>
          <a:lstStyle/>
          <a:p>
            <a:pPr algn="l"/>
            <a:r>
              <a:rPr sz="1400" b="1" i="0">
                <a:solidFill>
                  <a:srgbClr val="4FA3D8"/>
                </a:solidFill>
              </a:rPr>
              <a:t>→</a:t>
            </a:r>
          </a:p>
        </p:txBody>
      </p:sp>
      <p:sp>
        <p:nvSpPr>
          <p:cNvPr id="27" name="Rectangle 26"/>
          <p:cNvSpPr/>
          <p:nvPr/>
        </p:nvSpPr>
        <p:spPr>
          <a:xfrm>
            <a:off x="2670048" y="3337560"/>
            <a:ext cx="2103120" cy="8229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761488" y="3429000"/>
            <a:ext cx="1920240" cy="640080"/>
          </a:xfrm>
          <a:prstGeom prst="rect">
            <a:avLst/>
          </a:prstGeom>
          <a:noFill/>
        </p:spPr>
        <p:txBody>
          <a:bodyPr wrap="square">
            <a:spAutoFit/>
          </a:bodyPr>
          <a:lstStyle/>
          <a:p>
            <a:pPr algn="ctr"/>
            <a:r>
              <a:rPr sz="1100" b="1" i="0">
                <a:solidFill>
                  <a:srgbClr val="FFFFFF"/>
                </a:solidFill>
              </a:rPr>
              <a:t>Embed
Query</a:t>
            </a:r>
          </a:p>
        </p:txBody>
      </p:sp>
      <p:sp>
        <p:nvSpPr>
          <p:cNvPr id="29" name="TextBox 28"/>
          <p:cNvSpPr txBox="1"/>
          <p:nvPr/>
        </p:nvSpPr>
        <p:spPr>
          <a:xfrm>
            <a:off x="4791456" y="3611880"/>
            <a:ext cx="256032" cy="256032"/>
          </a:xfrm>
          <a:prstGeom prst="rect">
            <a:avLst/>
          </a:prstGeom>
          <a:noFill/>
        </p:spPr>
        <p:txBody>
          <a:bodyPr wrap="square">
            <a:spAutoFit/>
          </a:bodyPr>
          <a:lstStyle/>
          <a:p>
            <a:pPr algn="l"/>
            <a:r>
              <a:rPr sz="1400" b="1" i="0">
                <a:solidFill>
                  <a:srgbClr val="4FA3D8"/>
                </a:solidFill>
              </a:rPr>
              <a:t>→</a:t>
            </a:r>
          </a:p>
        </p:txBody>
      </p:sp>
      <p:sp>
        <p:nvSpPr>
          <p:cNvPr id="30" name="Rectangle 29"/>
          <p:cNvSpPr/>
          <p:nvPr/>
        </p:nvSpPr>
        <p:spPr>
          <a:xfrm>
            <a:off x="5020055" y="3337560"/>
            <a:ext cx="2103120" cy="8229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11495" y="3429000"/>
            <a:ext cx="1920240" cy="640080"/>
          </a:xfrm>
          <a:prstGeom prst="rect">
            <a:avLst/>
          </a:prstGeom>
          <a:noFill/>
        </p:spPr>
        <p:txBody>
          <a:bodyPr wrap="square">
            <a:spAutoFit/>
          </a:bodyPr>
          <a:lstStyle/>
          <a:p>
            <a:pPr algn="ctr"/>
            <a:r>
              <a:rPr sz="1100" b="1" i="0">
                <a:solidFill>
                  <a:srgbClr val="FFFFFF"/>
                </a:solidFill>
              </a:rPr>
              <a:t>Vector
Search</a:t>
            </a:r>
          </a:p>
        </p:txBody>
      </p:sp>
      <p:sp>
        <p:nvSpPr>
          <p:cNvPr id="32" name="TextBox 31"/>
          <p:cNvSpPr txBox="1"/>
          <p:nvPr/>
        </p:nvSpPr>
        <p:spPr>
          <a:xfrm>
            <a:off x="7141463" y="3611880"/>
            <a:ext cx="256032" cy="256032"/>
          </a:xfrm>
          <a:prstGeom prst="rect">
            <a:avLst/>
          </a:prstGeom>
          <a:noFill/>
        </p:spPr>
        <p:txBody>
          <a:bodyPr wrap="square">
            <a:spAutoFit/>
          </a:bodyPr>
          <a:lstStyle/>
          <a:p>
            <a:pPr algn="l"/>
            <a:r>
              <a:rPr sz="1400" b="1" i="0">
                <a:solidFill>
                  <a:srgbClr val="4FA3D8"/>
                </a:solidFill>
              </a:rPr>
              <a:t>→</a:t>
            </a:r>
          </a:p>
        </p:txBody>
      </p:sp>
      <p:sp>
        <p:nvSpPr>
          <p:cNvPr id="33" name="Rectangle 32"/>
          <p:cNvSpPr/>
          <p:nvPr/>
        </p:nvSpPr>
        <p:spPr>
          <a:xfrm>
            <a:off x="7370063" y="3337560"/>
            <a:ext cx="2103120" cy="8229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61503" y="3429000"/>
            <a:ext cx="1920240" cy="640080"/>
          </a:xfrm>
          <a:prstGeom prst="rect">
            <a:avLst/>
          </a:prstGeom>
          <a:noFill/>
        </p:spPr>
        <p:txBody>
          <a:bodyPr wrap="square">
            <a:spAutoFit/>
          </a:bodyPr>
          <a:lstStyle/>
          <a:p>
            <a:pPr algn="ctr"/>
            <a:r>
              <a:rPr sz="1100" b="1" i="0">
                <a:solidFill>
                  <a:srgbClr val="FFFFFF"/>
                </a:solidFill>
              </a:rPr>
              <a:t>Cohere
LLM Chat</a:t>
            </a:r>
          </a:p>
        </p:txBody>
      </p:sp>
      <p:sp>
        <p:nvSpPr>
          <p:cNvPr id="35" name="TextBox 34"/>
          <p:cNvSpPr txBox="1"/>
          <p:nvPr/>
        </p:nvSpPr>
        <p:spPr>
          <a:xfrm>
            <a:off x="9491472" y="3611880"/>
            <a:ext cx="256032" cy="256032"/>
          </a:xfrm>
          <a:prstGeom prst="rect">
            <a:avLst/>
          </a:prstGeom>
          <a:noFill/>
        </p:spPr>
        <p:txBody>
          <a:bodyPr wrap="square">
            <a:spAutoFit/>
          </a:bodyPr>
          <a:lstStyle/>
          <a:p>
            <a:pPr algn="l"/>
            <a:r>
              <a:rPr sz="1400" b="1" i="0">
                <a:solidFill>
                  <a:srgbClr val="4FA3D8"/>
                </a:solidFill>
              </a:rPr>
              <a:t>→</a:t>
            </a:r>
          </a:p>
        </p:txBody>
      </p:sp>
      <p:sp>
        <p:nvSpPr>
          <p:cNvPr id="36" name="Rectangle 35"/>
          <p:cNvSpPr/>
          <p:nvPr/>
        </p:nvSpPr>
        <p:spPr>
          <a:xfrm>
            <a:off x="9720072" y="3337560"/>
            <a:ext cx="2103120" cy="8229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811511" y="3429000"/>
            <a:ext cx="1920240" cy="640080"/>
          </a:xfrm>
          <a:prstGeom prst="rect">
            <a:avLst/>
          </a:prstGeom>
          <a:noFill/>
        </p:spPr>
        <p:txBody>
          <a:bodyPr wrap="square">
            <a:spAutoFit/>
          </a:bodyPr>
          <a:lstStyle/>
          <a:p>
            <a:pPr algn="ctr"/>
            <a:r>
              <a:rPr sz="1100" b="1" i="0">
                <a:solidFill>
                  <a:srgbClr val="FFFFFF"/>
                </a:solidFill>
              </a:rPr>
              <a:t>Stream +
Cite + Log</a:t>
            </a:r>
          </a:p>
        </p:txBody>
      </p:sp>
      <p:sp>
        <p:nvSpPr>
          <p:cNvPr id="38" name="TextBox 37"/>
          <p:cNvSpPr txBox="1"/>
          <p:nvPr/>
        </p:nvSpPr>
        <p:spPr>
          <a:xfrm>
            <a:off x="365760" y="4297680"/>
            <a:ext cx="3200400" cy="274320"/>
          </a:xfrm>
          <a:prstGeom prst="rect">
            <a:avLst/>
          </a:prstGeom>
          <a:noFill/>
        </p:spPr>
        <p:txBody>
          <a:bodyPr wrap="square">
            <a:spAutoFit/>
          </a:bodyPr>
          <a:lstStyle/>
          <a:p>
            <a:pPr algn="l"/>
            <a:r>
              <a:rPr sz="900" b="1" i="0">
                <a:solidFill>
                  <a:srgbClr val="4FA3D8"/>
                </a:solidFill>
              </a:rPr>
              <a:t>TECHNOLOGY STACK</a:t>
            </a:r>
          </a:p>
        </p:txBody>
      </p:sp>
      <p:sp>
        <p:nvSpPr>
          <p:cNvPr id="39" name="Rectangle 38"/>
          <p:cNvSpPr/>
          <p:nvPr/>
        </p:nvSpPr>
        <p:spPr>
          <a:xfrm>
            <a:off x="320040" y="4572000"/>
            <a:ext cx="2103120" cy="777240"/>
          </a:xfrm>
          <a:prstGeom prst="rect">
            <a:avLst/>
          </a:prstGeom>
          <a:solidFill>
            <a:srgbClr val="0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20040" y="4572000"/>
            <a:ext cx="2103120" cy="914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11479" y="4645152"/>
            <a:ext cx="1920240" cy="658368"/>
          </a:xfrm>
          <a:prstGeom prst="rect">
            <a:avLst/>
          </a:prstGeom>
          <a:noFill/>
        </p:spPr>
        <p:txBody>
          <a:bodyPr wrap="square">
            <a:spAutoFit/>
          </a:bodyPr>
          <a:lstStyle/>
          <a:p>
            <a:pPr algn="ctr"/>
            <a:r>
              <a:rPr sz="1050" b="0" i="0">
                <a:solidFill>
                  <a:srgbClr val="F0F4F8"/>
                </a:solidFill>
              </a:rPr>
              <a:t>Streamlit
UI</a:t>
            </a:r>
          </a:p>
        </p:txBody>
      </p:sp>
      <p:sp>
        <p:nvSpPr>
          <p:cNvPr id="42" name="Rectangle 41"/>
          <p:cNvSpPr/>
          <p:nvPr/>
        </p:nvSpPr>
        <p:spPr>
          <a:xfrm>
            <a:off x="2670048" y="4572000"/>
            <a:ext cx="2103120" cy="777240"/>
          </a:xfrm>
          <a:prstGeom prst="rect">
            <a:avLst/>
          </a:prstGeom>
          <a:solidFill>
            <a:srgbClr val="0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2670048" y="4572000"/>
            <a:ext cx="2103120" cy="914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61488" y="4645152"/>
            <a:ext cx="1920240" cy="658368"/>
          </a:xfrm>
          <a:prstGeom prst="rect">
            <a:avLst/>
          </a:prstGeom>
          <a:noFill/>
        </p:spPr>
        <p:txBody>
          <a:bodyPr wrap="square">
            <a:spAutoFit/>
          </a:bodyPr>
          <a:lstStyle/>
          <a:p>
            <a:pPr algn="ctr"/>
            <a:r>
              <a:rPr sz="1050" b="0" i="0">
                <a:solidFill>
                  <a:srgbClr val="F0F4F8"/>
                </a:solidFill>
              </a:rPr>
              <a:t>Cohere
command-a-03</a:t>
            </a:r>
          </a:p>
        </p:txBody>
      </p:sp>
      <p:sp>
        <p:nvSpPr>
          <p:cNvPr id="45" name="Rectangle 44"/>
          <p:cNvSpPr/>
          <p:nvPr/>
        </p:nvSpPr>
        <p:spPr>
          <a:xfrm>
            <a:off x="5020055" y="4572000"/>
            <a:ext cx="2103120" cy="777240"/>
          </a:xfrm>
          <a:prstGeom prst="rect">
            <a:avLst/>
          </a:prstGeom>
          <a:solidFill>
            <a:srgbClr val="0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020055" y="4572000"/>
            <a:ext cx="2103120" cy="914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11495" y="4645152"/>
            <a:ext cx="1920240" cy="658368"/>
          </a:xfrm>
          <a:prstGeom prst="rect">
            <a:avLst/>
          </a:prstGeom>
          <a:noFill/>
        </p:spPr>
        <p:txBody>
          <a:bodyPr wrap="square">
            <a:spAutoFit/>
          </a:bodyPr>
          <a:lstStyle/>
          <a:p>
            <a:pPr algn="ctr"/>
            <a:r>
              <a:rPr sz="1050" b="0" i="0">
                <a:solidFill>
                  <a:srgbClr val="F0F4F8"/>
                </a:solidFill>
              </a:rPr>
              <a:t>Cohere
embed-english-v3</a:t>
            </a:r>
          </a:p>
        </p:txBody>
      </p:sp>
      <p:sp>
        <p:nvSpPr>
          <p:cNvPr id="48" name="Rectangle 47"/>
          <p:cNvSpPr/>
          <p:nvPr/>
        </p:nvSpPr>
        <p:spPr>
          <a:xfrm>
            <a:off x="7370063" y="4572000"/>
            <a:ext cx="2103120" cy="777240"/>
          </a:xfrm>
          <a:prstGeom prst="rect">
            <a:avLst/>
          </a:prstGeom>
          <a:solidFill>
            <a:srgbClr val="0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7370063" y="4572000"/>
            <a:ext cx="2103120" cy="914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61503" y="4645152"/>
            <a:ext cx="1920240" cy="658368"/>
          </a:xfrm>
          <a:prstGeom prst="rect">
            <a:avLst/>
          </a:prstGeom>
          <a:noFill/>
        </p:spPr>
        <p:txBody>
          <a:bodyPr wrap="square">
            <a:spAutoFit/>
          </a:bodyPr>
          <a:lstStyle/>
          <a:p>
            <a:pPr algn="ctr"/>
            <a:r>
              <a:rPr sz="1050" b="0" i="0">
                <a:solidFill>
                  <a:srgbClr val="F0F4F8"/>
                </a:solidFill>
              </a:rPr>
              <a:t>ChromaDB
Vector DB</a:t>
            </a:r>
          </a:p>
        </p:txBody>
      </p:sp>
      <p:sp>
        <p:nvSpPr>
          <p:cNvPr id="51" name="Rectangle 50"/>
          <p:cNvSpPr/>
          <p:nvPr/>
        </p:nvSpPr>
        <p:spPr>
          <a:xfrm>
            <a:off x="9720072" y="4572000"/>
            <a:ext cx="2103120" cy="777240"/>
          </a:xfrm>
          <a:prstGeom prst="rect">
            <a:avLst/>
          </a:prstGeom>
          <a:solidFill>
            <a:srgbClr val="0A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720072" y="4572000"/>
            <a:ext cx="2103120" cy="9144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811511" y="4645152"/>
            <a:ext cx="1920240" cy="658368"/>
          </a:xfrm>
          <a:prstGeom prst="rect">
            <a:avLst/>
          </a:prstGeom>
          <a:noFill/>
        </p:spPr>
        <p:txBody>
          <a:bodyPr wrap="square">
            <a:spAutoFit/>
          </a:bodyPr>
          <a:lstStyle/>
          <a:p>
            <a:pPr algn="ctr"/>
            <a:r>
              <a:rPr sz="1050" b="0" i="0">
                <a:solidFill>
                  <a:srgbClr val="F0F4F8"/>
                </a:solidFill>
              </a:rPr>
              <a:t>pypdf
python-docx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Key Features</a:t>
            </a:r>
          </a:p>
        </p:txBody>
      </p:sp>
      <p:sp>
        <p:nvSpPr>
          <p:cNvPr id="4" name="Rectangle 3"/>
          <p:cNvSpPr/>
          <p:nvPr/>
        </p:nvSpPr>
        <p:spPr>
          <a:xfrm>
            <a:off x="320040" y="105156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64008" cy="1280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21207" y="1143000"/>
            <a:ext cx="5212080" cy="365760"/>
          </a:xfrm>
          <a:prstGeom prst="rect">
            <a:avLst/>
          </a:prstGeom>
          <a:noFill/>
        </p:spPr>
        <p:txBody>
          <a:bodyPr wrap="square">
            <a:spAutoFit/>
          </a:bodyPr>
          <a:lstStyle/>
          <a:p>
            <a:pPr algn="l"/>
            <a:r>
              <a:rPr sz="1300" b="1" i="0">
                <a:solidFill>
                  <a:srgbClr val="2ECC71"/>
                </a:solidFill>
              </a:rPr>
              <a:t>🌍 Multi-Region Support</a:t>
            </a:r>
          </a:p>
        </p:txBody>
      </p:sp>
      <p:sp>
        <p:nvSpPr>
          <p:cNvPr id="7" name="TextBox 6"/>
          <p:cNvSpPr txBox="1"/>
          <p:nvPr/>
        </p:nvSpPr>
        <p:spPr>
          <a:xfrm>
            <a:off x="521207" y="1527048"/>
            <a:ext cx="5212080" cy="713232"/>
          </a:xfrm>
          <a:prstGeom prst="rect">
            <a:avLst/>
          </a:prstGeom>
          <a:noFill/>
        </p:spPr>
        <p:txBody>
          <a:bodyPr wrap="square">
            <a:spAutoFit/>
          </a:bodyPr>
          <a:lstStyle/>
          <a:p>
            <a:pPr algn="l"/>
            <a:r>
              <a:rPr sz="1050" b="0" i="0">
                <a:solidFill>
                  <a:srgbClr val="F0F4F8"/>
                </a:solidFill>
              </a:rPr>
              <a:t>Filter knowledge by region (All / India / US) so agents always get contextually relevant answers.</a:t>
            </a:r>
          </a:p>
        </p:txBody>
      </p:sp>
      <p:sp>
        <p:nvSpPr>
          <p:cNvPr id="8" name="Rectangle 7"/>
          <p:cNvSpPr/>
          <p:nvPr/>
        </p:nvSpPr>
        <p:spPr>
          <a:xfrm>
            <a:off x="6263640" y="105156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63640" y="1051560"/>
            <a:ext cx="64008"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64807" y="1143000"/>
            <a:ext cx="5212080" cy="365760"/>
          </a:xfrm>
          <a:prstGeom prst="rect">
            <a:avLst/>
          </a:prstGeom>
          <a:noFill/>
        </p:spPr>
        <p:txBody>
          <a:bodyPr wrap="square">
            <a:spAutoFit/>
          </a:bodyPr>
          <a:lstStyle/>
          <a:p>
            <a:pPr algn="l"/>
            <a:r>
              <a:rPr sz="1300" b="1" i="0">
                <a:solidFill>
                  <a:srgbClr val="FF6B35"/>
                </a:solidFill>
              </a:rPr>
              <a:t>🏢 Department Scoping</a:t>
            </a:r>
          </a:p>
        </p:txBody>
      </p:sp>
      <p:sp>
        <p:nvSpPr>
          <p:cNvPr id="11" name="TextBox 10"/>
          <p:cNvSpPr txBox="1"/>
          <p:nvPr/>
        </p:nvSpPr>
        <p:spPr>
          <a:xfrm>
            <a:off x="6464807" y="1527048"/>
            <a:ext cx="5212080" cy="713232"/>
          </a:xfrm>
          <a:prstGeom prst="rect">
            <a:avLst/>
          </a:prstGeom>
          <a:noFill/>
        </p:spPr>
        <p:txBody>
          <a:bodyPr wrap="square">
            <a:spAutoFit/>
          </a:bodyPr>
          <a:lstStyle/>
          <a:p>
            <a:pPr algn="l"/>
            <a:r>
              <a:rPr sz="1050" b="0" i="0">
                <a:solidFill>
                  <a:srgbClr val="F0F4F8"/>
                </a:solidFill>
              </a:rPr>
              <a:t>Narrow searches to Infra, HR, Finance, or General departments for precise, noise-free results.</a:t>
            </a:r>
          </a:p>
        </p:txBody>
      </p:sp>
      <p:sp>
        <p:nvSpPr>
          <p:cNvPr id="12" name="Rectangle 11"/>
          <p:cNvSpPr/>
          <p:nvPr/>
        </p:nvSpPr>
        <p:spPr>
          <a:xfrm>
            <a:off x="320040" y="246888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 y="2468880"/>
            <a:ext cx="64008" cy="12801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7" y="2560320"/>
            <a:ext cx="5212080" cy="365760"/>
          </a:xfrm>
          <a:prstGeom prst="rect">
            <a:avLst/>
          </a:prstGeom>
          <a:noFill/>
        </p:spPr>
        <p:txBody>
          <a:bodyPr wrap="square">
            <a:spAutoFit/>
          </a:bodyPr>
          <a:lstStyle/>
          <a:p>
            <a:pPr algn="l"/>
            <a:r>
              <a:rPr sz="1300" b="1" i="0">
                <a:solidFill>
                  <a:srgbClr val="1B6CA8"/>
                </a:solidFill>
              </a:rPr>
              <a:t>⚡ Streaming Responses</a:t>
            </a:r>
          </a:p>
        </p:txBody>
      </p:sp>
      <p:sp>
        <p:nvSpPr>
          <p:cNvPr id="15" name="TextBox 14"/>
          <p:cNvSpPr txBox="1"/>
          <p:nvPr/>
        </p:nvSpPr>
        <p:spPr>
          <a:xfrm>
            <a:off x="521207" y="2944368"/>
            <a:ext cx="5212080" cy="713232"/>
          </a:xfrm>
          <a:prstGeom prst="rect">
            <a:avLst/>
          </a:prstGeom>
          <a:noFill/>
        </p:spPr>
        <p:txBody>
          <a:bodyPr wrap="square">
            <a:spAutoFit/>
          </a:bodyPr>
          <a:lstStyle/>
          <a:p>
            <a:pPr algn="l"/>
            <a:r>
              <a:rPr sz="1050" b="0" i="0">
                <a:solidFill>
                  <a:srgbClr val="F0F4F8"/>
                </a:solidFill>
              </a:rPr>
              <a:t>Answers stream token-by-token via Cohere's chat_stream API, giving users instant feedback.</a:t>
            </a:r>
          </a:p>
        </p:txBody>
      </p:sp>
      <p:sp>
        <p:nvSpPr>
          <p:cNvPr id="16" name="Rectangle 15"/>
          <p:cNvSpPr/>
          <p:nvPr/>
        </p:nvSpPr>
        <p:spPr>
          <a:xfrm>
            <a:off x="6263640" y="246888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63640" y="2468880"/>
            <a:ext cx="64008" cy="128016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64807" y="2560320"/>
            <a:ext cx="5212080" cy="365760"/>
          </a:xfrm>
          <a:prstGeom prst="rect">
            <a:avLst/>
          </a:prstGeom>
          <a:noFill/>
        </p:spPr>
        <p:txBody>
          <a:bodyPr wrap="square">
            <a:spAutoFit/>
          </a:bodyPr>
          <a:lstStyle/>
          <a:p>
            <a:pPr algn="l"/>
            <a:r>
              <a:rPr sz="1300" b="1" i="0">
                <a:solidFill>
                  <a:srgbClr val="8E44AD"/>
                </a:solidFill>
              </a:rPr>
              <a:t>📎 Source Citations</a:t>
            </a:r>
          </a:p>
        </p:txBody>
      </p:sp>
      <p:sp>
        <p:nvSpPr>
          <p:cNvPr id="19" name="TextBox 18"/>
          <p:cNvSpPr txBox="1"/>
          <p:nvPr/>
        </p:nvSpPr>
        <p:spPr>
          <a:xfrm>
            <a:off x="6464807" y="2944368"/>
            <a:ext cx="5212080" cy="713232"/>
          </a:xfrm>
          <a:prstGeom prst="rect">
            <a:avLst/>
          </a:prstGeom>
          <a:noFill/>
        </p:spPr>
        <p:txBody>
          <a:bodyPr wrap="square">
            <a:spAutoFit/>
          </a:bodyPr>
          <a:lstStyle/>
          <a:p>
            <a:pPr algn="l"/>
            <a:r>
              <a:rPr sz="1050" b="0" i="0">
                <a:solidFill>
                  <a:srgbClr val="F0F4F8"/>
                </a:solidFill>
              </a:rPr>
              <a:t>Every answer is backed by cited document names, regions and similarity-scored excerpts.</a:t>
            </a:r>
          </a:p>
        </p:txBody>
      </p:sp>
      <p:sp>
        <p:nvSpPr>
          <p:cNvPr id="20" name="Rectangle 19"/>
          <p:cNvSpPr/>
          <p:nvPr/>
        </p:nvSpPr>
        <p:spPr>
          <a:xfrm>
            <a:off x="320040" y="388620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0040" y="3886200"/>
            <a:ext cx="64008" cy="128016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1207" y="3977639"/>
            <a:ext cx="5212080" cy="365760"/>
          </a:xfrm>
          <a:prstGeom prst="rect">
            <a:avLst/>
          </a:prstGeom>
          <a:noFill/>
        </p:spPr>
        <p:txBody>
          <a:bodyPr wrap="square">
            <a:spAutoFit/>
          </a:bodyPr>
          <a:lstStyle/>
          <a:p>
            <a:pPr algn="l"/>
            <a:r>
              <a:rPr sz="1300" b="1" i="0">
                <a:solidFill>
                  <a:srgbClr val="16A085"/>
                </a:solidFill>
              </a:rPr>
              <a:t>📊 Confidence Scoring</a:t>
            </a:r>
          </a:p>
        </p:txBody>
      </p:sp>
      <p:sp>
        <p:nvSpPr>
          <p:cNvPr id="23" name="TextBox 22"/>
          <p:cNvSpPr txBox="1"/>
          <p:nvPr/>
        </p:nvSpPr>
        <p:spPr>
          <a:xfrm>
            <a:off x="521207" y="4361688"/>
            <a:ext cx="5212080" cy="713232"/>
          </a:xfrm>
          <a:prstGeom prst="rect">
            <a:avLst/>
          </a:prstGeom>
          <a:noFill/>
        </p:spPr>
        <p:txBody>
          <a:bodyPr wrap="square">
            <a:spAutoFit/>
          </a:bodyPr>
          <a:lstStyle/>
          <a:p>
            <a:pPr algn="l"/>
            <a:r>
              <a:rPr sz="1050" b="0" i="0">
                <a:solidFill>
                  <a:srgbClr val="F0F4F8"/>
                </a:solidFill>
              </a:rPr>
              <a:t>Automatic confidence percentage based on retrieval quality and LLM certainty signals.</a:t>
            </a:r>
          </a:p>
        </p:txBody>
      </p:sp>
      <p:sp>
        <p:nvSpPr>
          <p:cNvPr id="24" name="Rectangle 23"/>
          <p:cNvSpPr/>
          <p:nvPr/>
        </p:nvSpPr>
        <p:spPr>
          <a:xfrm>
            <a:off x="6263640" y="388620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3886200"/>
            <a:ext cx="64008" cy="12801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4807" y="3977639"/>
            <a:ext cx="5212080" cy="365760"/>
          </a:xfrm>
          <a:prstGeom prst="rect">
            <a:avLst/>
          </a:prstGeom>
          <a:noFill/>
        </p:spPr>
        <p:txBody>
          <a:bodyPr wrap="square">
            <a:spAutoFit/>
          </a:bodyPr>
          <a:lstStyle/>
          <a:p>
            <a:pPr algn="l"/>
            <a:r>
              <a:rPr sz="1300" b="1" i="0">
                <a:solidFill>
                  <a:srgbClr val="FF6B35"/>
                </a:solidFill>
              </a:rPr>
              <a:t>🔒 I-Don't-Know Fallback</a:t>
            </a:r>
          </a:p>
        </p:txBody>
      </p:sp>
      <p:sp>
        <p:nvSpPr>
          <p:cNvPr id="27" name="TextBox 26"/>
          <p:cNvSpPr txBox="1"/>
          <p:nvPr/>
        </p:nvSpPr>
        <p:spPr>
          <a:xfrm>
            <a:off x="6464807" y="4361688"/>
            <a:ext cx="5212080" cy="713232"/>
          </a:xfrm>
          <a:prstGeom prst="rect">
            <a:avLst/>
          </a:prstGeom>
          <a:noFill/>
        </p:spPr>
        <p:txBody>
          <a:bodyPr wrap="square">
            <a:spAutoFit/>
          </a:bodyPr>
          <a:lstStyle/>
          <a:p>
            <a:pPr algn="l"/>
            <a:r>
              <a:rPr sz="1050" b="0" i="0">
                <a:solidFill>
                  <a:srgbClr val="F0F4F8"/>
                </a:solidFill>
              </a:rPr>
              <a:t>When context is insufficient the system explicitly says so instead of hallucinating.</a:t>
            </a:r>
          </a:p>
        </p:txBody>
      </p:sp>
      <p:sp>
        <p:nvSpPr>
          <p:cNvPr id="28" name="Rectangle 27"/>
          <p:cNvSpPr/>
          <p:nvPr/>
        </p:nvSpPr>
        <p:spPr>
          <a:xfrm>
            <a:off x="320040" y="530352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20040" y="5303520"/>
            <a:ext cx="64008" cy="12801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21207" y="5394960"/>
            <a:ext cx="5212080" cy="365760"/>
          </a:xfrm>
          <a:prstGeom prst="rect">
            <a:avLst/>
          </a:prstGeom>
          <a:noFill/>
        </p:spPr>
        <p:txBody>
          <a:bodyPr wrap="square">
            <a:spAutoFit/>
          </a:bodyPr>
          <a:lstStyle/>
          <a:p>
            <a:pPr algn="l"/>
            <a:r>
              <a:rPr sz="1300" b="1" i="0">
                <a:solidFill>
                  <a:srgbClr val="2ECC71"/>
                </a:solidFill>
              </a:rPr>
              <a:t>🗂 Admin Panel</a:t>
            </a:r>
          </a:p>
        </p:txBody>
      </p:sp>
      <p:sp>
        <p:nvSpPr>
          <p:cNvPr id="31" name="TextBox 30"/>
          <p:cNvSpPr txBox="1"/>
          <p:nvPr/>
        </p:nvSpPr>
        <p:spPr>
          <a:xfrm>
            <a:off x="521207" y="5779008"/>
            <a:ext cx="5212080" cy="713232"/>
          </a:xfrm>
          <a:prstGeom prst="rect">
            <a:avLst/>
          </a:prstGeom>
          <a:noFill/>
        </p:spPr>
        <p:txBody>
          <a:bodyPr wrap="square">
            <a:spAutoFit/>
          </a:bodyPr>
          <a:lstStyle/>
          <a:p>
            <a:pPr algn="l"/>
            <a:r>
              <a:rPr sz="1050" b="0" i="0">
                <a:solidFill>
                  <a:srgbClr val="F0F4F8"/>
                </a:solidFill>
              </a:rPr>
              <a:t>Upload PDF/DOCX, sync ticket resolutions JSON, view document library, delete documents.</a:t>
            </a:r>
          </a:p>
        </p:txBody>
      </p:sp>
      <p:sp>
        <p:nvSpPr>
          <p:cNvPr id="32" name="Rectangle 31"/>
          <p:cNvSpPr/>
          <p:nvPr/>
        </p:nvSpPr>
        <p:spPr>
          <a:xfrm>
            <a:off x="6263640" y="5303520"/>
            <a:ext cx="5577840" cy="1280160"/>
          </a:xfrm>
          <a:prstGeom prst="rect">
            <a:avLst/>
          </a:prstGeom>
          <a:solidFill>
            <a:srgbClr val="0F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5303520"/>
            <a:ext cx="64008" cy="128016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64807" y="5394960"/>
            <a:ext cx="5212080" cy="365760"/>
          </a:xfrm>
          <a:prstGeom prst="rect">
            <a:avLst/>
          </a:prstGeom>
          <a:noFill/>
        </p:spPr>
        <p:txBody>
          <a:bodyPr wrap="square">
            <a:spAutoFit/>
          </a:bodyPr>
          <a:lstStyle/>
          <a:p>
            <a:pPr algn="l"/>
            <a:r>
              <a:rPr sz="1300" b="1" i="0">
                <a:solidFill>
                  <a:srgbClr val="4FA3D8"/>
                </a:solidFill>
              </a:rPr>
              <a:t>📝 Audit Logging</a:t>
            </a:r>
          </a:p>
        </p:txBody>
      </p:sp>
      <p:sp>
        <p:nvSpPr>
          <p:cNvPr id="35" name="TextBox 34"/>
          <p:cNvSpPr txBox="1"/>
          <p:nvPr/>
        </p:nvSpPr>
        <p:spPr>
          <a:xfrm>
            <a:off x="6464807" y="5779008"/>
            <a:ext cx="5212080" cy="713232"/>
          </a:xfrm>
          <a:prstGeom prst="rect">
            <a:avLst/>
          </a:prstGeom>
          <a:noFill/>
        </p:spPr>
        <p:txBody>
          <a:bodyPr wrap="square">
            <a:spAutoFit/>
          </a:bodyPr>
          <a:lstStyle/>
          <a:p>
            <a:pPr algn="l"/>
            <a:r>
              <a:rPr sz="1050" b="0" i="0">
                <a:solidFill>
                  <a:srgbClr val="F0F4F8"/>
                </a:solidFill>
              </a:rPr>
              <a:t>Every query is logged to JSONL with timestamp, region, answer excerpt, confidence, sources.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Third-Party Integrations</a:t>
            </a:r>
          </a:p>
        </p:txBody>
      </p:sp>
      <p:sp>
        <p:nvSpPr>
          <p:cNvPr id="4" name="TextBox 3"/>
          <p:cNvSpPr txBox="1"/>
          <p:nvPr/>
        </p:nvSpPr>
        <p:spPr>
          <a:xfrm>
            <a:off x="365760" y="1005840"/>
            <a:ext cx="11430000" cy="822960"/>
          </a:xfrm>
          <a:prstGeom prst="rect">
            <a:avLst/>
          </a:prstGeom>
          <a:noFill/>
        </p:spPr>
        <p:txBody>
          <a:bodyPr wrap="square">
            <a:spAutoFit/>
          </a:bodyPr>
          <a:lstStyle/>
          <a:p>
            <a:pPr algn="l"/>
            <a:r>
              <a:rPr sz="1200" b="0" i="0">
                <a:solidFill>
                  <a:srgbClr val="F0F4F8"/>
                </a:solidFill>
              </a:rPr>
              <a:t>The Support Ticket Resolution System is designed as an open integration layer. It can connect to any CRM, ITSM, or ticketing platform to read historical data, enrich it with AI analysis, and push back resolutions, assignments, and priority scores.</a:t>
            </a:r>
          </a:p>
        </p:txBody>
      </p:sp>
      <p:sp>
        <p:nvSpPr>
          <p:cNvPr id="5" name="Rectangle 4"/>
          <p:cNvSpPr/>
          <p:nvPr/>
        </p:nvSpPr>
        <p:spPr>
          <a:xfrm>
            <a:off x="365760" y="1920240"/>
            <a:ext cx="11457432" cy="36576"/>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2103120"/>
            <a:ext cx="2194560" cy="502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2176272"/>
            <a:ext cx="2011680" cy="384048"/>
          </a:xfrm>
          <a:prstGeom prst="rect">
            <a:avLst/>
          </a:prstGeom>
          <a:noFill/>
        </p:spPr>
        <p:txBody>
          <a:bodyPr wrap="square">
            <a:spAutoFit/>
          </a:bodyPr>
          <a:lstStyle/>
          <a:p>
            <a:pPr algn="ctr"/>
            <a:r>
              <a:rPr sz="1200" b="1" i="0">
                <a:solidFill>
                  <a:srgbClr val="FFFFFF"/>
                </a:solidFill>
              </a:rPr>
              <a:t>Jira</a:t>
            </a:r>
          </a:p>
        </p:txBody>
      </p:sp>
      <p:sp>
        <p:nvSpPr>
          <p:cNvPr id="8" name="Rectangle 7"/>
          <p:cNvSpPr/>
          <p:nvPr/>
        </p:nvSpPr>
        <p:spPr>
          <a:xfrm>
            <a:off x="274320" y="26974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74320" y="2697479"/>
            <a:ext cx="219456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2788920"/>
            <a:ext cx="2011680" cy="1051560"/>
          </a:xfrm>
          <a:prstGeom prst="rect">
            <a:avLst/>
          </a:prstGeom>
          <a:noFill/>
        </p:spPr>
        <p:txBody>
          <a:bodyPr wrap="square">
            <a:spAutoFit/>
          </a:bodyPr>
          <a:lstStyle/>
          <a:p>
            <a:pPr algn="ctr"/>
            <a:r>
              <a:rPr sz="1000" b="0" i="0">
                <a:solidFill>
                  <a:srgbClr val="F0F4F8"/>
                </a:solidFill>
              </a:rPr>
              <a:t>Webhook →
Fetch issue</a:t>
            </a:r>
          </a:p>
        </p:txBody>
      </p:sp>
      <p:sp>
        <p:nvSpPr>
          <p:cNvPr id="11" name="Rectangle 10"/>
          <p:cNvSpPr/>
          <p:nvPr/>
        </p:nvSpPr>
        <p:spPr>
          <a:xfrm>
            <a:off x="274320" y="40690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74320" y="4069079"/>
            <a:ext cx="219456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4160520"/>
            <a:ext cx="2011680" cy="1051560"/>
          </a:xfrm>
          <a:prstGeom prst="rect">
            <a:avLst/>
          </a:prstGeom>
          <a:noFill/>
        </p:spPr>
        <p:txBody>
          <a:bodyPr wrap="square">
            <a:spAutoFit/>
          </a:bodyPr>
          <a:lstStyle/>
          <a:p>
            <a:pPr algn="ctr"/>
            <a:r>
              <a:rPr sz="1000" b="0" i="0">
                <a:solidFill>
                  <a:srgbClr val="F0F4F8"/>
                </a:solidFill>
              </a:rPr>
              <a:t>Analyse &amp;
Classify</a:t>
            </a:r>
          </a:p>
        </p:txBody>
      </p:sp>
      <p:sp>
        <p:nvSpPr>
          <p:cNvPr id="14" name="Rectangle 13"/>
          <p:cNvSpPr/>
          <p:nvPr/>
        </p:nvSpPr>
        <p:spPr>
          <a:xfrm>
            <a:off x="274320" y="54406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4320" y="5440679"/>
            <a:ext cx="2194560"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5532120"/>
            <a:ext cx="2011680" cy="1051560"/>
          </a:xfrm>
          <a:prstGeom prst="rect">
            <a:avLst/>
          </a:prstGeom>
          <a:noFill/>
        </p:spPr>
        <p:txBody>
          <a:bodyPr wrap="square">
            <a:spAutoFit/>
          </a:bodyPr>
          <a:lstStyle/>
          <a:p>
            <a:pPr algn="ctr"/>
            <a:r>
              <a:rPr sz="1000" b="0" i="0">
                <a:solidFill>
                  <a:srgbClr val="F0F4F8"/>
                </a:solidFill>
              </a:rPr>
              <a:t>Auto-assign,
Set priority,
Post resolution</a:t>
            </a:r>
          </a:p>
        </p:txBody>
      </p:sp>
      <p:sp>
        <p:nvSpPr>
          <p:cNvPr id="17" name="Rectangle 16"/>
          <p:cNvSpPr/>
          <p:nvPr/>
        </p:nvSpPr>
        <p:spPr>
          <a:xfrm>
            <a:off x="2651760" y="2103120"/>
            <a:ext cx="2194560" cy="50292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743200" y="2176272"/>
            <a:ext cx="2011680" cy="384048"/>
          </a:xfrm>
          <a:prstGeom prst="rect">
            <a:avLst/>
          </a:prstGeom>
          <a:noFill/>
        </p:spPr>
        <p:txBody>
          <a:bodyPr wrap="square">
            <a:spAutoFit/>
          </a:bodyPr>
          <a:lstStyle/>
          <a:p>
            <a:pPr algn="ctr"/>
            <a:r>
              <a:rPr sz="1200" b="1" i="0">
                <a:solidFill>
                  <a:srgbClr val="FFFFFF"/>
                </a:solidFill>
              </a:rPr>
              <a:t>ServiceNow</a:t>
            </a:r>
          </a:p>
        </p:txBody>
      </p:sp>
      <p:sp>
        <p:nvSpPr>
          <p:cNvPr id="19" name="Rectangle 18"/>
          <p:cNvSpPr/>
          <p:nvPr/>
        </p:nvSpPr>
        <p:spPr>
          <a:xfrm>
            <a:off x="2651760" y="26974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51760" y="2697479"/>
            <a:ext cx="2194560"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0" y="2788920"/>
            <a:ext cx="2011680" cy="1051560"/>
          </a:xfrm>
          <a:prstGeom prst="rect">
            <a:avLst/>
          </a:prstGeom>
          <a:noFill/>
        </p:spPr>
        <p:txBody>
          <a:bodyPr wrap="square">
            <a:spAutoFit/>
          </a:bodyPr>
          <a:lstStyle/>
          <a:p>
            <a:pPr algn="ctr"/>
            <a:r>
              <a:rPr sz="1000" b="0" i="0">
                <a:solidFill>
                  <a:srgbClr val="F0F4F8"/>
                </a:solidFill>
              </a:rPr>
              <a:t>Webhook →
Fetch incident</a:t>
            </a:r>
          </a:p>
        </p:txBody>
      </p:sp>
      <p:sp>
        <p:nvSpPr>
          <p:cNvPr id="22" name="Rectangle 21"/>
          <p:cNvSpPr/>
          <p:nvPr/>
        </p:nvSpPr>
        <p:spPr>
          <a:xfrm>
            <a:off x="2651760" y="40690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2651760" y="4069079"/>
            <a:ext cx="2194560"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0" y="4160520"/>
            <a:ext cx="2011680" cy="1051560"/>
          </a:xfrm>
          <a:prstGeom prst="rect">
            <a:avLst/>
          </a:prstGeom>
          <a:noFill/>
        </p:spPr>
        <p:txBody>
          <a:bodyPr wrap="square">
            <a:spAutoFit/>
          </a:bodyPr>
          <a:lstStyle/>
          <a:p>
            <a:pPr algn="ctr"/>
            <a:r>
              <a:rPr sz="1000" b="0" i="0">
                <a:solidFill>
                  <a:srgbClr val="F0F4F8"/>
                </a:solidFill>
              </a:rPr>
              <a:t>Analyse &amp;
Classify</a:t>
            </a:r>
          </a:p>
        </p:txBody>
      </p:sp>
      <p:sp>
        <p:nvSpPr>
          <p:cNvPr id="25" name="Rectangle 24"/>
          <p:cNvSpPr/>
          <p:nvPr/>
        </p:nvSpPr>
        <p:spPr>
          <a:xfrm>
            <a:off x="2651760" y="54406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651760" y="5440679"/>
            <a:ext cx="2194560"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0" y="5532120"/>
            <a:ext cx="2011680" cy="1051560"/>
          </a:xfrm>
          <a:prstGeom prst="rect">
            <a:avLst/>
          </a:prstGeom>
          <a:noFill/>
        </p:spPr>
        <p:txBody>
          <a:bodyPr wrap="square">
            <a:spAutoFit/>
          </a:bodyPr>
          <a:lstStyle/>
          <a:p>
            <a:pPr algn="ctr"/>
            <a:r>
              <a:rPr sz="1000" b="0" i="0">
                <a:solidFill>
                  <a:srgbClr val="F0F4F8"/>
                </a:solidFill>
              </a:rPr>
              <a:t>Auto-assign,
Set priority,
Post resolution</a:t>
            </a:r>
          </a:p>
        </p:txBody>
      </p:sp>
      <p:sp>
        <p:nvSpPr>
          <p:cNvPr id="28" name="Rectangle 27"/>
          <p:cNvSpPr/>
          <p:nvPr/>
        </p:nvSpPr>
        <p:spPr>
          <a:xfrm>
            <a:off x="5029200" y="2103120"/>
            <a:ext cx="2194560" cy="50292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0640" y="2176272"/>
            <a:ext cx="2011680" cy="384048"/>
          </a:xfrm>
          <a:prstGeom prst="rect">
            <a:avLst/>
          </a:prstGeom>
          <a:noFill/>
        </p:spPr>
        <p:txBody>
          <a:bodyPr wrap="square">
            <a:spAutoFit/>
          </a:bodyPr>
          <a:lstStyle/>
          <a:p>
            <a:pPr algn="ctr"/>
            <a:r>
              <a:rPr sz="1200" b="1" i="0">
                <a:solidFill>
                  <a:srgbClr val="FFFFFF"/>
                </a:solidFill>
              </a:rPr>
              <a:t>Salesforce
CRM</a:t>
            </a:r>
          </a:p>
        </p:txBody>
      </p:sp>
      <p:sp>
        <p:nvSpPr>
          <p:cNvPr id="30" name="Rectangle 29"/>
          <p:cNvSpPr/>
          <p:nvPr/>
        </p:nvSpPr>
        <p:spPr>
          <a:xfrm>
            <a:off x="5029200" y="26974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029200" y="2697479"/>
            <a:ext cx="2194560" cy="73152"/>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20640" y="2788920"/>
            <a:ext cx="2011680" cy="1051560"/>
          </a:xfrm>
          <a:prstGeom prst="rect">
            <a:avLst/>
          </a:prstGeom>
          <a:noFill/>
        </p:spPr>
        <p:txBody>
          <a:bodyPr wrap="square">
            <a:spAutoFit/>
          </a:bodyPr>
          <a:lstStyle/>
          <a:p>
            <a:pPr algn="ctr"/>
            <a:r>
              <a:rPr sz="1000" b="0" i="0">
                <a:solidFill>
                  <a:srgbClr val="F0F4F8"/>
                </a:solidFill>
              </a:rPr>
              <a:t>API Poll /
Webhook</a:t>
            </a:r>
          </a:p>
        </p:txBody>
      </p:sp>
      <p:sp>
        <p:nvSpPr>
          <p:cNvPr id="33" name="Rectangle 32"/>
          <p:cNvSpPr/>
          <p:nvPr/>
        </p:nvSpPr>
        <p:spPr>
          <a:xfrm>
            <a:off x="5029200" y="40690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029200" y="4069079"/>
            <a:ext cx="2194560" cy="73152"/>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120640" y="4160520"/>
            <a:ext cx="2011680" cy="1051560"/>
          </a:xfrm>
          <a:prstGeom prst="rect">
            <a:avLst/>
          </a:prstGeom>
          <a:noFill/>
        </p:spPr>
        <p:txBody>
          <a:bodyPr wrap="square">
            <a:spAutoFit/>
          </a:bodyPr>
          <a:lstStyle/>
          <a:p>
            <a:pPr algn="ctr"/>
            <a:r>
              <a:rPr sz="1000" b="0" i="0">
                <a:solidFill>
                  <a:srgbClr val="F0F4F8"/>
                </a:solidFill>
              </a:rPr>
              <a:t>Analyse &amp;
Classify</a:t>
            </a:r>
          </a:p>
        </p:txBody>
      </p:sp>
      <p:sp>
        <p:nvSpPr>
          <p:cNvPr id="36" name="Rectangle 35"/>
          <p:cNvSpPr/>
          <p:nvPr/>
        </p:nvSpPr>
        <p:spPr>
          <a:xfrm>
            <a:off x="5029200" y="54406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029200" y="5440679"/>
            <a:ext cx="2194560" cy="73152"/>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20640" y="5532120"/>
            <a:ext cx="2011680" cy="1051560"/>
          </a:xfrm>
          <a:prstGeom prst="rect">
            <a:avLst/>
          </a:prstGeom>
          <a:noFill/>
        </p:spPr>
        <p:txBody>
          <a:bodyPr wrap="square">
            <a:spAutoFit/>
          </a:bodyPr>
          <a:lstStyle/>
          <a:p>
            <a:pPr algn="ctr"/>
            <a:r>
              <a:rPr sz="1000" b="0" i="0">
                <a:solidFill>
                  <a:srgbClr val="F0F4F8"/>
                </a:solidFill>
              </a:rPr>
              <a:t>Route to
agent, Add
resolution note</a:t>
            </a:r>
          </a:p>
        </p:txBody>
      </p:sp>
      <p:sp>
        <p:nvSpPr>
          <p:cNvPr id="39" name="Rectangle 38"/>
          <p:cNvSpPr/>
          <p:nvPr/>
        </p:nvSpPr>
        <p:spPr>
          <a:xfrm>
            <a:off x="7406640" y="2103120"/>
            <a:ext cx="2194560" cy="50292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0" y="2176272"/>
            <a:ext cx="2011680" cy="384048"/>
          </a:xfrm>
          <a:prstGeom prst="rect">
            <a:avLst/>
          </a:prstGeom>
          <a:noFill/>
        </p:spPr>
        <p:txBody>
          <a:bodyPr wrap="square">
            <a:spAutoFit/>
          </a:bodyPr>
          <a:lstStyle/>
          <a:p>
            <a:pPr algn="ctr"/>
            <a:r>
              <a:rPr sz="1200" b="1" i="0">
                <a:solidFill>
                  <a:srgbClr val="FFFFFF"/>
                </a:solidFill>
              </a:rPr>
              <a:t>Zendesk</a:t>
            </a:r>
          </a:p>
        </p:txBody>
      </p:sp>
      <p:sp>
        <p:nvSpPr>
          <p:cNvPr id="41" name="Rectangle 40"/>
          <p:cNvSpPr/>
          <p:nvPr/>
        </p:nvSpPr>
        <p:spPr>
          <a:xfrm>
            <a:off x="7406640" y="26974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406640" y="2697479"/>
            <a:ext cx="2194560" cy="7315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498080" y="2788920"/>
            <a:ext cx="2011680" cy="1051560"/>
          </a:xfrm>
          <a:prstGeom prst="rect">
            <a:avLst/>
          </a:prstGeom>
          <a:noFill/>
        </p:spPr>
        <p:txBody>
          <a:bodyPr wrap="square">
            <a:spAutoFit/>
          </a:bodyPr>
          <a:lstStyle/>
          <a:p>
            <a:pPr algn="ctr"/>
            <a:r>
              <a:rPr sz="1000" b="0" i="0">
                <a:solidFill>
                  <a:srgbClr val="F0F4F8"/>
                </a:solidFill>
              </a:rPr>
              <a:t>Webhook →
Fetch ticket</a:t>
            </a:r>
          </a:p>
        </p:txBody>
      </p:sp>
      <p:sp>
        <p:nvSpPr>
          <p:cNvPr id="44" name="Rectangle 43"/>
          <p:cNvSpPr/>
          <p:nvPr/>
        </p:nvSpPr>
        <p:spPr>
          <a:xfrm>
            <a:off x="7406640" y="40690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406640" y="4069079"/>
            <a:ext cx="2194560" cy="7315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498080" y="4160520"/>
            <a:ext cx="2011680" cy="1051560"/>
          </a:xfrm>
          <a:prstGeom prst="rect">
            <a:avLst/>
          </a:prstGeom>
          <a:noFill/>
        </p:spPr>
        <p:txBody>
          <a:bodyPr wrap="square">
            <a:spAutoFit/>
          </a:bodyPr>
          <a:lstStyle/>
          <a:p>
            <a:pPr algn="ctr"/>
            <a:r>
              <a:rPr sz="1000" b="0" i="0">
                <a:solidFill>
                  <a:srgbClr val="F0F4F8"/>
                </a:solidFill>
              </a:rPr>
              <a:t>Analyse &amp;
Classify</a:t>
            </a:r>
          </a:p>
        </p:txBody>
      </p:sp>
      <p:sp>
        <p:nvSpPr>
          <p:cNvPr id="47" name="Rectangle 46"/>
          <p:cNvSpPr/>
          <p:nvPr/>
        </p:nvSpPr>
        <p:spPr>
          <a:xfrm>
            <a:off x="7406640" y="54406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406640" y="5440679"/>
            <a:ext cx="2194560" cy="7315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498080" y="5532120"/>
            <a:ext cx="2011680" cy="1051560"/>
          </a:xfrm>
          <a:prstGeom prst="rect">
            <a:avLst/>
          </a:prstGeom>
          <a:noFill/>
        </p:spPr>
        <p:txBody>
          <a:bodyPr wrap="square">
            <a:spAutoFit/>
          </a:bodyPr>
          <a:lstStyle/>
          <a:p>
            <a:pPr algn="ctr"/>
            <a:r>
              <a:rPr sz="1000" b="0" i="0">
                <a:solidFill>
                  <a:srgbClr val="F0F4F8"/>
                </a:solidFill>
              </a:rPr>
              <a:t>Macro apply,
Assign group,
Auto-resolve</a:t>
            </a:r>
          </a:p>
        </p:txBody>
      </p:sp>
      <p:sp>
        <p:nvSpPr>
          <p:cNvPr id="50" name="Rectangle 49"/>
          <p:cNvSpPr/>
          <p:nvPr/>
        </p:nvSpPr>
        <p:spPr>
          <a:xfrm>
            <a:off x="9784080" y="2103120"/>
            <a:ext cx="2194560" cy="502920"/>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875520" y="2176272"/>
            <a:ext cx="2011680" cy="384048"/>
          </a:xfrm>
          <a:prstGeom prst="rect">
            <a:avLst/>
          </a:prstGeom>
          <a:noFill/>
        </p:spPr>
        <p:txBody>
          <a:bodyPr wrap="square">
            <a:spAutoFit/>
          </a:bodyPr>
          <a:lstStyle/>
          <a:p>
            <a:pPr algn="ctr"/>
            <a:r>
              <a:rPr sz="1200" b="1" i="0">
                <a:solidFill>
                  <a:srgbClr val="FFFFFF"/>
                </a:solidFill>
              </a:rPr>
              <a:t>Any REST
System</a:t>
            </a:r>
          </a:p>
        </p:txBody>
      </p:sp>
      <p:sp>
        <p:nvSpPr>
          <p:cNvPr id="52" name="Rectangle 51"/>
          <p:cNvSpPr/>
          <p:nvPr/>
        </p:nvSpPr>
        <p:spPr>
          <a:xfrm>
            <a:off x="9784080" y="26974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9784080" y="2697479"/>
            <a:ext cx="2194560" cy="7315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875520" y="2788920"/>
            <a:ext cx="2011680" cy="1051560"/>
          </a:xfrm>
          <a:prstGeom prst="rect">
            <a:avLst/>
          </a:prstGeom>
          <a:noFill/>
        </p:spPr>
        <p:txBody>
          <a:bodyPr wrap="square">
            <a:spAutoFit/>
          </a:bodyPr>
          <a:lstStyle/>
          <a:p>
            <a:pPr algn="ctr"/>
            <a:r>
              <a:rPr sz="1000" b="0" i="0">
                <a:solidFill>
                  <a:srgbClr val="F0F4F8"/>
                </a:solidFill>
              </a:rPr>
              <a:t>REST / GraphQL
/ Webhook</a:t>
            </a:r>
          </a:p>
        </p:txBody>
      </p:sp>
      <p:sp>
        <p:nvSpPr>
          <p:cNvPr id="55" name="Rectangle 54"/>
          <p:cNvSpPr/>
          <p:nvPr/>
        </p:nvSpPr>
        <p:spPr>
          <a:xfrm>
            <a:off x="9784080" y="40690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9784080" y="4069079"/>
            <a:ext cx="2194560" cy="7315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9875520" y="4160520"/>
            <a:ext cx="2011680" cy="1051560"/>
          </a:xfrm>
          <a:prstGeom prst="rect">
            <a:avLst/>
          </a:prstGeom>
          <a:noFill/>
        </p:spPr>
        <p:txBody>
          <a:bodyPr wrap="square">
            <a:spAutoFit/>
          </a:bodyPr>
          <a:lstStyle/>
          <a:p>
            <a:pPr algn="ctr"/>
            <a:r>
              <a:rPr sz="1000" b="0" i="0">
                <a:solidFill>
                  <a:srgbClr val="F0F4F8"/>
                </a:solidFill>
              </a:rPr>
              <a:t>Analyse &amp;
Classify</a:t>
            </a:r>
          </a:p>
        </p:txBody>
      </p:sp>
      <p:sp>
        <p:nvSpPr>
          <p:cNvPr id="58" name="Rectangle 57"/>
          <p:cNvSpPr/>
          <p:nvPr/>
        </p:nvSpPr>
        <p:spPr>
          <a:xfrm>
            <a:off x="9784080" y="5440679"/>
            <a:ext cx="2194560" cy="1234440"/>
          </a:xfrm>
          <a:prstGeom prst="rect">
            <a:avLst/>
          </a:prstGeom>
          <a:solidFill>
            <a:srgbClr val="0E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784080" y="5440679"/>
            <a:ext cx="2194560" cy="7315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875520" y="5532120"/>
            <a:ext cx="2011680" cy="1051560"/>
          </a:xfrm>
          <a:prstGeom prst="rect">
            <a:avLst/>
          </a:prstGeom>
          <a:noFill/>
        </p:spPr>
        <p:txBody>
          <a:bodyPr wrap="square">
            <a:spAutoFit/>
          </a:bodyPr>
          <a:lstStyle/>
          <a:p>
            <a:pPr algn="ctr"/>
            <a:r>
              <a:rPr sz="1000" b="0" i="0">
                <a:solidFill>
                  <a:srgbClr val="F0F4F8"/>
                </a:solidFill>
              </a:rPr>
              <a:t>Push back
via API</a:t>
            </a:r>
          </a:p>
        </p:txBody>
      </p:sp>
      <p:sp>
        <p:nvSpPr>
          <p:cNvPr id="61" name="TextBox 60"/>
          <p:cNvSpPr txBox="1"/>
          <p:nvPr/>
        </p:nvSpPr>
        <p:spPr>
          <a:xfrm>
            <a:off x="11887200" y="2724912"/>
            <a:ext cx="228600" cy="365760"/>
          </a:xfrm>
          <a:prstGeom prst="rect">
            <a:avLst/>
          </a:prstGeom>
          <a:noFill/>
        </p:spPr>
        <p:txBody>
          <a:bodyPr wrap="square">
            <a:spAutoFit/>
          </a:bodyPr>
          <a:lstStyle/>
          <a:p>
            <a:pPr algn="l"/>
            <a:r>
              <a:rPr sz="800" b="1" i="0">
                <a:solidFill>
                  <a:srgbClr val="A0B0C0"/>
                </a:solidFill>
              </a:rPr>
              <a:t>01  Ingest</a:t>
            </a:r>
          </a:p>
        </p:txBody>
      </p:sp>
      <p:sp>
        <p:nvSpPr>
          <p:cNvPr id="62" name="TextBox 61"/>
          <p:cNvSpPr txBox="1"/>
          <p:nvPr/>
        </p:nvSpPr>
        <p:spPr>
          <a:xfrm>
            <a:off x="11887200" y="4096512"/>
            <a:ext cx="228600" cy="365760"/>
          </a:xfrm>
          <a:prstGeom prst="rect">
            <a:avLst/>
          </a:prstGeom>
          <a:noFill/>
        </p:spPr>
        <p:txBody>
          <a:bodyPr wrap="square">
            <a:spAutoFit/>
          </a:bodyPr>
          <a:lstStyle/>
          <a:p>
            <a:pPr algn="l"/>
            <a:r>
              <a:rPr sz="800" b="1" i="0">
                <a:solidFill>
                  <a:srgbClr val="A0B0C0"/>
                </a:solidFill>
              </a:rPr>
              <a:t>02  Analyse</a:t>
            </a:r>
          </a:p>
        </p:txBody>
      </p:sp>
      <p:sp>
        <p:nvSpPr>
          <p:cNvPr id="63" name="TextBox 62"/>
          <p:cNvSpPr txBox="1"/>
          <p:nvPr/>
        </p:nvSpPr>
        <p:spPr>
          <a:xfrm>
            <a:off x="11887200" y="5468112"/>
            <a:ext cx="228600" cy="365760"/>
          </a:xfrm>
          <a:prstGeom prst="rect">
            <a:avLst/>
          </a:prstGeom>
          <a:noFill/>
        </p:spPr>
        <p:txBody>
          <a:bodyPr wrap="square">
            <a:spAutoFit/>
          </a:bodyPr>
          <a:lstStyle/>
          <a:p>
            <a:pPr algn="l"/>
            <a:r>
              <a:rPr sz="800" b="1" i="0">
                <a:solidFill>
                  <a:srgbClr val="A0B0C0"/>
                </a:solidFill>
              </a:rPr>
              <a:t>03  Act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2800" b="1" i="0">
                <a:solidFill>
                  <a:srgbClr val="FFFFFF"/>
                </a:solidFill>
              </a:rPr>
              <a:t>Integration Architecture &amp; Data Flow</a:t>
            </a:r>
          </a:p>
        </p:txBody>
      </p:sp>
      <p:sp>
        <p:nvSpPr>
          <p:cNvPr id="4" name="TextBox 3"/>
          <p:cNvSpPr txBox="1"/>
          <p:nvPr/>
        </p:nvSpPr>
        <p:spPr>
          <a:xfrm>
            <a:off x="320040" y="1005840"/>
            <a:ext cx="2743200" cy="256032"/>
          </a:xfrm>
          <a:prstGeom prst="rect">
            <a:avLst/>
          </a:prstGeom>
          <a:noFill/>
        </p:spPr>
        <p:txBody>
          <a:bodyPr wrap="square">
            <a:spAutoFit/>
          </a:bodyPr>
          <a:lstStyle/>
          <a:p>
            <a:pPr algn="l"/>
            <a:r>
              <a:rPr sz="800" b="1" i="0">
                <a:solidFill>
                  <a:srgbClr val="FF6B35"/>
                </a:solidFill>
              </a:rPr>
              <a:t>SOURCE SYSTEMS</a:t>
            </a:r>
          </a:p>
        </p:txBody>
      </p:sp>
      <p:sp>
        <p:nvSpPr>
          <p:cNvPr id="5" name="Rectangle 4"/>
          <p:cNvSpPr/>
          <p:nvPr/>
        </p:nvSpPr>
        <p:spPr>
          <a:xfrm>
            <a:off x="320040" y="1298448"/>
            <a:ext cx="2194560" cy="749808"/>
          </a:xfrm>
          <a:prstGeom prst="rect">
            <a:avLst/>
          </a:prstGeom>
          <a:solidFill>
            <a:srgbClr val="12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298448"/>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08176"/>
            <a:ext cx="1965960" cy="502920"/>
          </a:xfrm>
          <a:prstGeom prst="rect">
            <a:avLst/>
          </a:prstGeom>
          <a:noFill/>
        </p:spPr>
        <p:txBody>
          <a:bodyPr wrap="square">
            <a:spAutoFit/>
          </a:bodyPr>
          <a:lstStyle/>
          <a:p>
            <a:pPr algn="l"/>
            <a:r>
              <a:rPr sz="1100" b="0" i="0">
                <a:solidFill>
                  <a:srgbClr val="FFFFFF"/>
                </a:solidFill>
              </a:rPr>
              <a:t>Jira</a:t>
            </a:r>
          </a:p>
        </p:txBody>
      </p:sp>
      <p:sp>
        <p:nvSpPr>
          <p:cNvPr id="8" name="Rectangle 7"/>
          <p:cNvSpPr/>
          <p:nvPr/>
        </p:nvSpPr>
        <p:spPr>
          <a:xfrm>
            <a:off x="320040" y="2194560"/>
            <a:ext cx="2194560" cy="749808"/>
          </a:xfrm>
          <a:prstGeom prst="rect">
            <a:avLst/>
          </a:prstGeom>
          <a:solidFill>
            <a:srgbClr val="12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20040" y="2194560"/>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304288"/>
            <a:ext cx="1965960" cy="502920"/>
          </a:xfrm>
          <a:prstGeom prst="rect">
            <a:avLst/>
          </a:prstGeom>
          <a:noFill/>
        </p:spPr>
        <p:txBody>
          <a:bodyPr wrap="square">
            <a:spAutoFit/>
          </a:bodyPr>
          <a:lstStyle/>
          <a:p>
            <a:pPr algn="l"/>
            <a:r>
              <a:rPr sz="1100" b="0" i="0">
                <a:solidFill>
                  <a:srgbClr val="FFFFFF"/>
                </a:solidFill>
              </a:rPr>
              <a:t>ServiceNow</a:t>
            </a:r>
          </a:p>
        </p:txBody>
      </p:sp>
      <p:sp>
        <p:nvSpPr>
          <p:cNvPr id="11" name="Rectangle 10"/>
          <p:cNvSpPr/>
          <p:nvPr/>
        </p:nvSpPr>
        <p:spPr>
          <a:xfrm>
            <a:off x="320040" y="3090672"/>
            <a:ext cx="2194560" cy="749808"/>
          </a:xfrm>
          <a:prstGeom prst="rect">
            <a:avLst/>
          </a:prstGeom>
          <a:solidFill>
            <a:srgbClr val="12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20040" y="30906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3200400"/>
            <a:ext cx="1965960" cy="502920"/>
          </a:xfrm>
          <a:prstGeom prst="rect">
            <a:avLst/>
          </a:prstGeom>
          <a:noFill/>
        </p:spPr>
        <p:txBody>
          <a:bodyPr wrap="square">
            <a:spAutoFit/>
          </a:bodyPr>
          <a:lstStyle/>
          <a:p>
            <a:pPr algn="l"/>
            <a:r>
              <a:rPr sz="1100" b="0" i="0">
                <a:solidFill>
                  <a:srgbClr val="FFFFFF"/>
                </a:solidFill>
              </a:rPr>
              <a:t>Salesforce CRM</a:t>
            </a:r>
          </a:p>
        </p:txBody>
      </p:sp>
      <p:sp>
        <p:nvSpPr>
          <p:cNvPr id="14" name="Rectangle 13"/>
          <p:cNvSpPr/>
          <p:nvPr/>
        </p:nvSpPr>
        <p:spPr>
          <a:xfrm>
            <a:off x="320040" y="3986783"/>
            <a:ext cx="2194560" cy="749808"/>
          </a:xfrm>
          <a:prstGeom prst="rect">
            <a:avLst/>
          </a:prstGeom>
          <a:solidFill>
            <a:srgbClr val="12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0040" y="3986783"/>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4096512"/>
            <a:ext cx="1965960" cy="502920"/>
          </a:xfrm>
          <a:prstGeom prst="rect">
            <a:avLst/>
          </a:prstGeom>
          <a:noFill/>
        </p:spPr>
        <p:txBody>
          <a:bodyPr wrap="square">
            <a:spAutoFit/>
          </a:bodyPr>
          <a:lstStyle/>
          <a:p>
            <a:pPr algn="l"/>
            <a:r>
              <a:rPr sz="1100" b="0" i="0">
                <a:solidFill>
                  <a:srgbClr val="FFFFFF"/>
                </a:solidFill>
              </a:rPr>
              <a:t>Zendesk</a:t>
            </a:r>
          </a:p>
        </p:txBody>
      </p:sp>
      <p:sp>
        <p:nvSpPr>
          <p:cNvPr id="17" name="Rectangle 16"/>
          <p:cNvSpPr/>
          <p:nvPr/>
        </p:nvSpPr>
        <p:spPr>
          <a:xfrm>
            <a:off x="320040" y="4882896"/>
            <a:ext cx="2194560" cy="749808"/>
          </a:xfrm>
          <a:prstGeom prst="rect">
            <a:avLst/>
          </a:prstGeom>
          <a:solidFill>
            <a:srgbClr val="122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4882896"/>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4992624"/>
            <a:ext cx="1965960" cy="502920"/>
          </a:xfrm>
          <a:prstGeom prst="rect">
            <a:avLst/>
          </a:prstGeom>
          <a:noFill/>
        </p:spPr>
        <p:txBody>
          <a:bodyPr wrap="square">
            <a:spAutoFit/>
          </a:bodyPr>
          <a:lstStyle/>
          <a:p>
            <a:pPr algn="l"/>
            <a:r>
              <a:rPr sz="1100" b="0" i="0">
                <a:solidFill>
                  <a:srgbClr val="FFFFFF"/>
                </a:solidFill>
              </a:rPr>
              <a:t>Custom REST API</a:t>
            </a:r>
          </a:p>
        </p:txBody>
      </p:sp>
      <p:sp>
        <p:nvSpPr>
          <p:cNvPr id="20" name="Rectangle 19"/>
          <p:cNvSpPr/>
          <p:nvPr/>
        </p:nvSpPr>
        <p:spPr>
          <a:xfrm>
            <a:off x="2606040" y="3017520"/>
            <a:ext cx="1280160" cy="640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2606040"/>
            <a:ext cx="1188720" cy="502920"/>
          </a:xfrm>
          <a:prstGeom prst="rect">
            <a:avLst/>
          </a:prstGeom>
          <a:noFill/>
        </p:spPr>
        <p:txBody>
          <a:bodyPr wrap="square">
            <a:spAutoFit/>
          </a:bodyPr>
          <a:lstStyle/>
          <a:p>
            <a:pPr algn="ctr"/>
            <a:r>
              <a:rPr sz="900" b="0" i="0">
                <a:solidFill>
                  <a:srgbClr val="4FA3D8"/>
                </a:solidFill>
              </a:rPr>
              <a:t>Webhook /
REST API</a:t>
            </a:r>
          </a:p>
        </p:txBody>
      </p:sp>
      <p:sp>
        <p:nvSpPr>
          <p:cNvPr id="22" name="TextBox 21"/>
          <p:cNvSpPr txBox="1"/>
          <p:nvPr/>
        </p:nvSpPr>
        <p:spPr>
          <a:xfrm>
            <a:off x="3794760" y="2926080"/>
            <a:ext cx="274320" cy="274320"/>
          </a:xfrm>
          <a:prstGeom prst="rect">
            <a:avLst/>
          </a:prstGeom>
          <a:noFill/>
        </p:spPr>
        <p:txBody>
          <a:bodyPr wrap="square">
            <a:spAutoFit/>
          </a:bodyPr>
          <a:lstStyle/>
          <a:p>
            <a:pPr algn="l"/>
            <a:r>
              <a:rPr sz="2000" b="1" i="0">
                <a:solidFill>
                  <a:srgbClr val="4FA3D8"/>
                </a:solidFill>
              </a:rPr>
              <a:t>→</a:t>
            </a:r>
          </a:p>
        </p:txBody>
      </p:sp>
      <p:sp>
        <p:nvSpPr>
          <p:cNvPr id="23" name="TextBox 22"/>
          <p:cNvSpPr txBox="1"/>
          <p:nvPr/>
        </p:nvSpPr>
        <p:spPr>
          <a:xfrm>
            <a:off x="4114800" y="1005840"/>
            <a:ext cx="3657600" cy="256032"/>
          </a:xfrm>
          <a:prstGeom prst="rect">
            <a:avLst/>
          </a:prstGeom>
          <a:noFill/>
        </p:spPr>
        <p:txBody>
          <a:bodyPr wrap="square">
            <a:spAutoFit/>
          </a:bodyPr>
          <a:lstStyle/>
          <a:p>
            <a:pPr algn="l"/>
            <a:r>
              <a:rPr sz="800" b="1" i="0">
                <a:solidFill>
                  <a:srgbClr val="2ECC71"/>
                </a:solidFill>
              </a:rPr>
              <a:t>AI PROCESSING LAYER</a:t>
            </a:r>
          </a:p>
        </p:txBody>
      </p:sp>
      <p:sp>
        <p:nvSpPr>
          <p:cNvPr id="24" name="Rectangle 23"/>
          <p:cNvSpPr/>
          <p:nvPr/>
        </p:nvSpPr>
        <p:spPr>
          <a:xfrm>
            <a:off x="4114800" y="1298448"/>
            <a:ext cx="3474720" cy="804672"/>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114800" y="1298448"/>
            <a:ext cx="3474720"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51960" y="1435607"/>
            <a:ext cx="3200400" cy="594360"/>
          </a:xfrm>
          <a:prstGeom prst="rect">
            <a:avLst/>
          </a:prstGeom>
          <a:noFill/>
        </p:spPr>
        <p:txBody>
          <a:bodyPr wrap="square">
            <a:spAutoFit/>
          </a:bodyPr>
          <a:lstStyle/>
          <a:p>
            <a:pPr algn="l"/>
            <a:r>
              <a:rPr sz="1100" b="1" i="0">
                <a:solidFill>
                  <a:srgbClr val="FFFFFF"/>
                </a:solidFill>
              </a:rPr>
              <a:t>Event Listener
(Webhook Handler)</a:t>
            </a:r>
          </a:p>
        </p:txBody>
      </p:sp>
      <p:sp>
        <p:nvSpPr>
          <p:cNvPr id="27" name="TextBox 26"/>
          <p:cNvSpPr txBox="1"/>
          <p:nvPr/>
        </p:nvSpPr>
        <p:spPr>
          <a:xfrm>
            <a:off x="5669280" y="2121408"/>
            <a:ext cx="274320" cy="274320"/>
          </a:xfrm>
          <a:prstGeom prst="rect">
            <a:avLst/>
          </a:prstGeom>
          <a:noFill/>
        </p:spPr>
        <p:txBody>
          <a:bodyPr wrap="square">
            <a:spAutoFit/>
          </a:bodyPr>
          <a:lstStyle/>
          <a:p>
            <a:pPr algn="l"/>
            <a:r>
              <a:rPr sz="1400" b="1" i="0">
                <a:solidFill>
                  <a:srgbClr val="2ECC71"/>
                </a:solidFill>
              </a:rPr>
              <a:t>↓</a:t>
            </a:r>
          </a:p>
        </p:txBody>
      </p:sp>
      <p:sp>
        <p:nvSpPr>
          <p:cNvPr id="28" name="Rectangle 27"/>
          <p:cNvSpPr/>
          <p:nvPr/>
        </p:nvSpPr>
        <p:spPr>
          <a:xfrm>
            <a:off x="4114800" y="2304288"/>
            <a:ext cx="3474720" cy="804672"/>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114800" y="2304288"/>
            <a:ext cx="3474720" cy="7315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251960" y="2441448"/>
            <a:ext cx="3200400" cy="594360"/>
          </a:xfrm>
          <a:prstGeom prst="rect">
            <a:avLst/>
          </a:prstGeom>
          <a:noFill/>
        </p:spPr>
        <p:txBody>
          <a:bodyPr wrap="square">
            <a:spAutoFit/>
          </a:bodyPr>
          <a:lstStyle/>
          <a:p>
            <a:pPr algn="l"/>
            <a:r>
              <a:rPr sz="1100" b="1" i="0">
                <a:solidFill>
                  <a:srgbClr val="FFFFFF"/>
                </a:solidFill>
              </a:rPr>
              <a:t>Data Parser &amp;
Normaliser</a:t>
            </a:r>
          </a:p>
        </p:txBody>
      </p:sp>
      <p:sp>
        <p:nvSpPr>
          <p:cNvPr id="31" name="TextBox 30"/>
          <p:cNvSpPr txBox="1"/>
          <p:nvPr/>
        </p:nvSpPr>
        <p:spPr>
          <a:xfrm>
            <a:off x="5669280" y="3127248"/>
            <a:ext cx="274320" cy="274320"/>
          </a:xfrm>
          <a:prstGeom prst="rect">
            <a:avLst/>
          </a:prstGeom>
          <a:noFill/>
        </p:spPr>
        <p:txBody>
          <a:bodyPr wrap="square">
            <a:spAutoFit/>
          </a:bodyPr>
          <a:lstStyle/>
          <a:p>
            <a:pPr algn="l"/>
            <a:r>
              <a:rPr sz="1400" b="1" i="0">
                <a:solidFill>
                  <a:srgbClr val="16A085"/>
                </a:solidFill>
              </a:rPr>
              <a:t>↓</a:t>
            </a:r>
          </a:p>
        </p:txBody>
      </p:sp>
      <p:sp>
        <p:nvSpPr>
          <p:cNvPr id="32" name="Rectangle 31"/>
          <p:cNvSpPr/>
          <p:nvPr/>
        </p:nvSpPr>
        <p:spPr>
          <a:xfrm>
            <a:off x="4114800" y="3310128"/>
            <a:ext cx="3474720" cy="804672"/>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114800" y="3310128"/>
            <a:ext cx="3474720" cy="73152"/>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251960" y="3447288"/>
            <a:ext cx="3200400" cy="594360"/>
          </a:xfrm>
          <a:prstGeom prst="rect">
            <a:avLst/>
          </a:prstGeom>
          <a:noFill/>
        </p:spPr>
        <p:txBody>
          <a:bodyPr wrap="square">
            <a:spAutoFit/>
          </a:bodyPr>
          <a:lstStyle/>
          <a:p>
            <a:pPr algn="l"/>
            <a:r>
              <a:rPr sz="1100" b="1" i="0">
                <a:solidFill>
                  <a:srgbClr val="FFFFFF"/>
                </a:solidFill>
              </a:rPr>
              <a:t>RAG Query Engine
(Cohere + ChromaDB)</a:t>
            </a:r>
          </a:p>
        </p:txBody>
      </p:sp>
      <p:sp>
        <p:nvSpPr>
          <p:cNvPr id="35" name="TextBox 34"/>
          <p:cNvSpPr txBox="1"/>
          <p:nvPr/>
        </p:nvSpPr>
        <p:spPr>
          <a:xfrm>
            <a:off x="5669280" y="4133088"/>
            <a:ext cx="274320" cy="274320"/>
          </a:xfrm>
          <a:prstGeom prst="rect">
            <a:avLst/>
          </a:prstGeom>
          <a:noFill/>
        </p:spPr>
        <p:txBody>
          <a:bodyPr wrap="square">
            <a:spAutoFit/>
          </a:bodyPr>
          <a:lstStyle/>
          <a:p>
            <a:pPr algn="l"/>
            <a:r>
              <a:rPr sz="1400" b="1" i="0">
                <a:solidFill>
                  <a:srgbClr val="1B6CA8"/>
                </a:solidFill>
              </a:rPr>
              <a:t>↓</a:t>
            </a:r>
          </a:p>
        </p:txBody>
      </p:sp>
      <p:sp>
        <p:nvSpPr>
          <p:cNvPr id="36" name="Rectangle 35"/>
          <p:cNvSpPr/>
          <p:nvPr/>
        </p:nvSpPr>
        <p:spPr>
          <a:xfrm>
            <a:off x="4114800" y="4315968"/>
            <a:ext cx="3474720" cy="804672"/>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114800" y="4315968"/>
            <a:ext cx="3474720" cy="7315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251960" y="4453128"/>
            <a:ext cx="3200400" cy="594360"/>
          </a:xfrm>
          <a:prstGeom prst="rect">
            <a:avLst/>
          </a:prstGeom>
          <a:noFill/>
        </p:spPr>
        <p:txBody>
          <a:bodyPr wrap="square">
            <a:spAutoFit/>
          </a:bodyPr>
          <a:lstStyle/>
          <a:p>
            <a:pPr algn="l"/>
            <a:r>
              <a:rPr sz="1100" b="1" i="0">
                <a:solidFill>
                  <a:srgbClr val="FFFFFF"/>
                </a:solidFill>
              </a:rPr>
              <a:t>Decision Engine
(Assignee + Priority)</a:t>
            </a:r>
          </a:p>
        </p:txBody>
      </p:sp>
      <p:sp>
        <p:nvSpPr>
          <p:cNvPr id="39" name="TextBox 38"/>
          <p:cNvSpPr txBox="1"/>
          <p:nvPr/>
        </p:nvSpPr>
        <p:spPr>
          <a:xfrm>
            <a:off x="7635240" y="2926080"/>
            <a:ext cx="274320" cy="274320"/>
          </a:xfrm>
          <a:prstGeom prst="rect">
            <a:avLst/>
          </a:prstGeom>
          <a:noFill/>
        </p:spPr>
        <p:txBody>
          <a:bodyPr wrap="square">
            <a:spAutoFit/>
          </a:bodyPr>
          <a:lstStyle/>
          <a:p>
            <a:pPr algn="l"/>
            <a:r>
              <a:rPr sz="2000" b="1" i="0">
                <a:solidFill>
                  <a:srgbClr val="4FA3D8"/>
                </a:solidFill>
              </a:rPr>
              <a:t>→</a:t>
            </a:r>
          </a:p>
        </p:txBody>
      </p:sp>
      <p:sp>
        <p:nvSpPr>
          <p:cNvPr id="40" name="Rectangle 39"/>
          <p:cNvSpPr/>
          <p:nvPr/>
        </p:nvSpPr>
        <p:spPr>
          <a:xfrm>
            <a:off x="7635240" y="3017520"/>
            <a:ext cx="457200" cy="640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138160" y="1005840"/>
            <a:ext cx="3657600" cy="256032"/>
          </a:xfrm>
          <a:prstGeom prst="rect">
            <a:avLst/>
          </a:prstGeom>
          <a:noFill/>
        </p:spPr>
        <p:txBody>
          <a:bodyPr wrap="square">
            <a:spAutoFit/>
          </a:bodyPr>
          <a:lstStyle/>
          <a:p>
            <a:pPr algn="l"/>
            <a:r>
              <a:rPr sz="800" b="1" i="0">
                <a:solidFill>
                  <a:srgbClr val="4FA3D8"/>
                </a:solidFill>
              </a:rPr>
              <a:t>ACTIONS &amp; OUTPUT</a:t>
            </a:r>
          </a:p>
        </p:txBody>
      </p:sp>
      <p:sp>
        <p:nvSpPr>
          <p:cNvPr id="42" name="Rectangle 41"/>
          <p:cNvSpPr/>
          <p:nvPr/>
        </p:nvSpPr>
        <p:spPr>
          <a:xfrm>
            <a:off x="8138160" y="1298448"/>
            <a:ext cx="3474720" cy="749808"/>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138160" y="1298448"/>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275320" y="1408176"/>
            <a:ext cx="3246120" cy="566928"/>
          </a:xfrm>
          <a:prstGeom prst="rect">
            <a:avLst/>
          </a:prstGeom>
          <a:noFill/>
        </p:spPr>
        <p:txBody>
          <a:bodyPr wrap="square">
            <a:spAutoFit/>
          </a:bodyPr>
          <a:lstStyle/>
          <a:p>
            <a:pPr algn="l"/>
            <a:r>
              <a:rPr sz="1100" b="0" i="0">
                <a:solidFill>
                  <a:srgbClr val="FFFFFF"/>
                </a:solidFill>
              </a:rPr>
              <a:t>Auto-Assign to
Right Person/Team</a:t>
            </a:r>
          </a:p>
        </p:txBody>
      </p:sp>
      <p:sp>
        <p:nvSpPr>
          <p:cNvPr id="45" name="Rectangle 44"/>
          <p:cNvSpPr/>
          <p:nvPr/>
        </p:nvSpPr>
        <p:spPr>
          <a:xfrm>
            <a:off x="8138160" y="2194560"/>
            <a:ext cx="3474720" cy="749808"/>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8138160" y="2194560"/>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275320" y="2304288"/>
            <a:ext cx="3246120" cy="566928"/>
          </a:xfrm>
          <a:prstGeom prst="rect">
            <a:avLst/>
          </a:prstGeom>
          <a:noFill/>
        </p:spPr>
        <p:txBody>
          <a:bodyPr wrap="square">
            <a:spAutoFit/>
          </a:bodyPr>
          <a:lstStyle/>
          <a:p>
            <a:pPr algn="l"/>
            <a:r>
              <a:rPr sz="1100" b="0" i="0">
                <a:solidFill>
                  <a:srgbClr val="FFFFFF"/>
                </a:solidFill>
              </a:rPr>
              <a:t>Set Ticket
Priority (P1–P4)</a:t>
            </a:r>
          </a:p>
        </p:txBody>
      </p:sp>
      <p:sp>
        <p:nvSpPr>
          <p:cNvPr id="48" name="Rectangle 47"/>
          <p:cNvSpPr/>
          <p:nvPr/>
        </p:nvSpPr>
        <p:spPr>
          <a:xfrm>
            <a:off x="8138160" y="3090672"/>
            <a:ext cx="3474720" cy="749808"/>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138160" y="3090672"/>
            <a:ext cx="54864" cy="749808"/>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275320" y="3200400"/>
            <a:ext cx="3246120" cy="566928"/>
          </a:xfrm>
          <a:prstGeom prst="rect">
            <a:avLst/>
          </a:prstGeom>
          <a:noFill/>
        </p:spPr>
        <p:txBody>
          <a:bodyPr wrap="square">
            <a:spAutoFit/>
          </a:bodyPr>
          <a:lstStyle/>
          <a:p>
            <a:pPr algn="l"/>
            <a:r>
              <a:rPr sz="1100" b="0" i="0">
                <a:solidFill>
                  <a:srgbClr val="FFFFFF"/>
                </a:solidFill>
              </a:rPr>
              <a:t>Post AI Resolution
in Comments</a:t>
            </a:r>
          </a:p>
        </p:txBody>
      </p:sp>
      <p:sp>
        <p:nvSpPr>
          <p:cNvPr id="51" name="Rectangle 50"/>
          <p:cNvSpPr/>
          <p:nvPr/>
        </p:nvSpPr>
        <p:spPr>
          <a:xfrm>
            <a:off x="8138160" y="3986783"/>
            <a:ext cx="3474720" cy="749808"/>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138160" y="3986783"/>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275320" y="4096512"/>
            <a:ext cx="3246120" cy="566928"/>
          </a:xfrm>
          <a:prstGeom prst="rect">
            <a:avLst/>
          </a:prstGeom>
          <a:noFill/>
        </p:spPr>
        <p:txBody>
          <a:bodyPr wrap="square">
            <a:spAutoFit/>
          </a:bodyPr>
          <a:lstStyle/>
          <a:p>
            <a:pPr algn="l"/>
            <a:r>
              <a:rPr sz="1100" b="0" i="0">
                <a:solidFill>
                  <a:srgbClr val="FFFFFF"/>
                </a:solidFill>
              </a:rPr>
              <a:t>Notify via
Slack / Email</a:t>
            </a:r>
          </a:p>
        </p:txBody>
      </p:sp>
      <p:sp>
        <p:nvSpPr>
          <p:cNvPr id="54" name="Rectangle 53"/>
          <p:cNvSpPr/>
          <p:nvPr/>
        </p:nvSpPr>
        <p:spPr>
          <a:xfrm>
            <a:off x="8138160" y="4882896"/>
            <a:ext cx="3474720" cy="749808"/>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138160" y="4882896"/>
            <a:ext cx="54864" cy="749808"/>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275320" y="4992624"/>
            <a:ext cx="3246120" cy="566928"/>
          </a:xfrm>
          <a:prstGeom prst="rect">
            <a:avLst/>
          </a:prstGeom>
          <a:noFill/>
        </p:spPr>
        <p:txBody>
          <a:bodyPr wrap="square">
            <a:spAutoFit/>
          </a:bodyPr>
          <a:lstStyle/>
          <a:p>
            <a:pPr algn="l"/>
            <a:r>
              <a:rPr sz="1100" b="0" i="0">
                <a:solidFill>
                  <a:srgbClr val="FFFFFF"/>
                </a:solidFill>
              </a:rPr>
              <a:t>Update Audit
Log &amp; Analytics</a:t>
            </a:r>
          </a:p>
        </p:txBody>
      </p:sp>
      <p:sp>
        <p:nvSpPr>
          <p:cNvPr id="57" name="Rectangle 56"/>
          <p:cNvSpPr/>
          <p:nvPr/>
        </p:nvSpPr>
        <p:spPr>
          <a:xfrm>
            <a:off x="320040" y="6172200"/>
            <a:ext cx="11521440" cy="502920"/>
          </a:xfrm>
          <a:prstGeom prst="rect">
            <a:avLst/>
          </a:prstGeom>
          <a:solidFill>
            <a:srgbClr val="0A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7200" y="6217920"/>
            <a:ext cx="11247120" cy="411480"/>
          </a:xfrm>
          <a:prstGeom prst="rect">
            <a:avLst/>
          </a:prstGeom>
          <a:noFill/>
        </p:spPr>
        <p:txBody>
          <a:bodyPr wrap="square">
            <a:spAutoFit/>
          </a:bodyPr>
          <a:lstStyle/>
          <a:p>
            <a:pPr algn="l"/>
            <a:r>
              <a:rPr sz="1000" b="0" i="0">
                <a:solidFill>
                  <a:srgbClr val="F0F4F8"/>
                </a:solidFill>
              </a:rPr>
              <a:t>💡  The AI Processing Layer is platform-agnostic. Any system that emits webhooks or exposes a REST/GraphQL API can be integrated without code changes to the core RAG engine.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2800" b="1" i="0">
                <a:solidFill>
                  <a:srgbClr val="FFFFFF"/>
                </a:solidFill>
              </a:rPr>
              <a:t>Deep Dive: Jira &amp; ServiceNow Integration</a:t>
            </a:r>
          </a:p>
        </p:txBody>
      </p:sp>
      <p:sp>
        <p:nvSpPr>
          <p:cNvPr id="4" name="Rectangle 3"/>
          <p:cNvSpPr/>
          <p:nvPr/>
        </p:nvSpPr>
        <p:spPr>
          <a:xfrm>
            <a:off x="320040" y="1005840"/>
            <a:ext cx="5394960" cy="539496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05840"/>
            <a:ext cx="5394960" cy="43891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69848"/>
            <a:ext cx="5120640" cy="347472"/>
          </a:xfrm>
          <a:prstGeom prst="rect">
            <a:avLst/>
          </a:prstGeom>
          <a:noFill/>
        </p:spPr>
        <p:txBody>
          <a:bodyPr wrap="square">
            <a:spAutoFit/>
          </a:bodyPr>
          <a:lstStyle/>
          <a:p>
            <a:pPr algn="l"/>
            <a:r>
              <a:rPr sz="1500" b="1" i="0">
                <a:solidFill>
                  <a:srgbClr val="FFFFFF"/>
                </a:solidFill>
              </a:rPr>
              <a:t>🔵  Jira</a:t>
            </a:r>
          </a:p>
        </p:txBody>
      </p:sp>
      <p:sp>
        <p:nvSpPr>
          <p:cNvPr id="7" name="Rectangle 6"/>
          <p:cNvSpPr/>
          <p:nvPr/>
        </p:nvSpPr>
        <p:spPr>
          <a:xfrm>
            <a:off x="457200" y="1536192"/>
            <a:ext cx="512064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572768"/>
            <a:ext cx="4846320" cy="292608"/>
          </a:xfrm>
          <a:prstGeom prst="rect">
            <a:avLst/>
          </a:prstGeom>
          <a:noFill/>
        </p:spPr>
        <p:txBody>
          <a:bodyPr wrap="square">
            <a:spAutoFit/>
          </a:bodyPr>
          <a:lstStyle/>
          <a:p>
            <a:pPr algn="l"/>
            <a:r>
              <a:rPr sz="1100" b="1" i="0">
                <a:solidFill>
                  <a:srgbClr val="FF6B35"/>
                </a:solidFill>
              </a:rPr>
              <a:t>1. Webhook Trigger</a:t>
            </a:r>
          </a:p>
        </p:txBody>
      </p:sp>
      <p:sp>
        <p:nvSpPr>
          <p:cNvPr id="9" name="TextBox 8"/>
          <p:cNvSpPr txBox="1"/>
          <p:nvPr/>
        </p:nvSpPr>
        <p:spPr>
          <a:xfrm>
            <a:off x="594360" y="1865376"/>
            <a:ext cx="4846320" cy="502920"/>
          </a:xfrm>
          <a:prstGeom prst="rect">
            <a:avLst/>
          </a:prstGeom>
          <a:noFill/>
        </p:spPr>
        <p:txBody>
          <a:bodyPr wrap="square">
            <a:spAutoFit/>
          </a:bodyPr>
          <a:lstStyle/>
          <a:p>
            <a:pPr algn="l"/>
            <a:r>
              <a:rPr sz="950" b="0" i="0">
                <a:solidFill>
                  <a:srgbClr val="F0F4F8"/>
                </a:solidFill>
              </a:rPr>
              <a:t>New issue created / status changed → Jira fires webhook to integration endpoint.</a:t>
            </a:r>
          </a:p>
        </p:txBody>
      </p:sp>
      <p:sp>
        <p:nvSpPr>
          <p:cNvPr id="10" name="Rectangle 9"/>
          <p:cNvSpPr/>
          <p:nvPr/>
        </p:nvSpPr>
        <p:spPr>
          <a:xfrm>
            <a:off x="457200" y="2468880"/>
            <a:ext cx="512064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505456"/>
            <a:ext cx="4846320" cy="292608"/>
          </a:xfrm>
          <a:prstGeom prst="rect">
            <a:avLst/>
          </a:prstGeom>
          <a:noFill/>
        </p:spPr>
        <p:txBody>
          <a:bodyPr wrap="square">
            <a:spAutoFit/>
          </a:bodyPr>
          <a:lstStyle/>
          <a:p>
            <a:pPr algn="l"/>
            <a:r>
              <a:rPr sz="1100" b="1" i="0">
                <a:solidFill>
                  <a:srgbClr val="FF6B35"/>
                </a:solidFill>
              </a:rPr>
              <a:t>2. Fetch Full Context</a:t>
            </a:r>
          </a:p>
        </p:txBody>
      </p:sp>
      <p:sp>
        <p:nvSpPr>
          <p:cNvPr id="12" name="TextBox 11"/>
          <p:cNvSpPr txBox="1"/>
          <p:nvPr/>
        </p:nvSpPr>
        <p:spPr>
          <a:xfrm>
            <a:off x="594360" y="2798064"/>
            <a:ext cx="4846320" cy="502920"/>
          </a:xfrm>
          <a:prstGeom prst="rect">
            <a:avLst/>
          </a:prstGeom>
          <a:noFill/>
        </p:spPr>
        <p:txBody>
          <a:bodyPr wrap="square">
            <a:spAutoFit/>
          </a:bodyPr>
          <a:lstStyle/>
          <a:p>
            <a:pPr algn="l"/>
            <a:r>
              <a:rPr sz="950" b="0" i="0">
                <a:solidFill>
                  <a:srgbClr val="F0F4F8"/>
                </a:solidFill>
              </a:rPr>
              <a:t>System calls Jira REST API to fetch issue details: title, description, labels, project, reporter.</a:t>
            </a:r>
          </a:p>
        </p:txBody>
      </p:sp>
      <p:sp>
        <p:nvSpPr>
          <p:cNvPr id="13" name="Rectangle 12"/>
          <p:cNvSpPr/>
          <p:nvPr/>
        </p:nvSpPr>
        <p:spPr>
          <a:xfrm>
            <a:off x="457200" y="3401568"/>
            <a:ext cx="512064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438144"/>
            <a:ext cx="4846320" cy="292608"/>
          </a:xfrm>
          <a:prstGeom prst="rect">
            <a:avLst/>
          </a:prstGeom>
          <a:noFill/>
        </p:spPr>
        <p:txBody>
          <a:bodyPr wrap="square">
            <a:spAutoFit/>
          </a:bodyPr>
          <a:lstStyle/>
          <a:p>
            <a:pPr algn="l"/>
            <a:r>
              <a:rPr sz="1100" b="1" i="0">
                <a:solidFill>
                  <a:srgbClr val="FF6B35"/>
                </a:solidFill>
              </a:rPr>
              <a:t>3. RAG Analysis</a:t>
            </a:r>
          </a:p>
        </p:txBody>
      </p:sp>
      <p:sp>
        <p:nvSpPr>
          <p:cNvPr id="15" name="TextBox 14"/>
          <p:cNvSpPr txBox="1"/>
          <p:nvPr/>
        </p:nvSpPr>
        <p:spPr>
          <a:xfrm>
            <a:off x="594360" y="3730752"/>
            <a:ext cx="4846320" cy="502920"/>
          </a:xfrm>
          <a:prstGeom prst="rect">
            <a:avLst/>
          </a:prstGeom>
          <a:noFill/>
        </p:spPr>
        <p:txBody>
          <a:bodyPr wrap="square">
            <a:spAutoFit/>
          </a:bodyPr>
          <a:lstStyle/>
          <a:p>
            <a:pPr algn="l"/>
            <a:r>
              <a:rPr sz="950" b="0" i="0">
                <a:solidFill>
                  <a:srgbClr val="F0F4F8"/>
                </a:solidFill>
              </a:rPr>
              <a:t>Issue text is embedded and queried against the knowledge base for similar past tickets.</a:t>
            </a:r>
          </a:p>
        </p:txBody>
      </p:sp>
      <p:sp>
        <p:nvSpPr>
          <p:cNvPr id="16" name="Rectangle 15"/>
          <p:cNvSpPr/>
          <p:nvPr/>
        </p:nvSpPr>
        <p:spPr>
          <a:xfrm>
            <a:off x="457200" y="4334256"/>
            <a:ext cx="512064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4370832"/>
            <a:ext cx="4846320" cy="292608"/>
          </a:xfrm>
          <a:prstGeom prst="rect">
            <a:avLst/>
          </a:prstGeom>
          <a:noFill/>
        </p:spPr>
        <p:txBody>
          <a:bodyPr wrap="square">
            <a:spAutoFit/>
          </a:bodyPr>
          <a:lstStyle/>
          <a:p>
            <a:pPr algn="l"/>
            <a:r>
              <a:rPr sz="1100" b="1" i="0">
                <a:solidFill>
                  <a:srgbClr val="FF6B35"/>
                </a:solidFill>
              </a:rPr>
              <a:t>4. Decision Engine</a:t>
            </a:r>
          </a:p>
        </p:txBody>
      </p:sp>
      <p:sp>
        <p:nvSpPr>
          <p:cNvPr id="18" name="TextBox 17"/>
          <p:cNvSpPr txBox="1"/>
          <p:nvPr/>
        </p:nvSpPr>
        <p:spPr>
          <a:xfrm>
            <a:off x="594360" y="4663440"/>
            <a:ext cx="4846320" cy="502920"/>
          </a:xfrm>
          <a:prstGeom prst="rect">
            <a:avLst/>
          </a:prstGeom>
          <a:noFill/>
        </p:spPr>
        <p:txBody>
          <a:bodyPr wrap="square">
            <a:spAutoFit/>
          </a:bodyPr>
          <a:lstStyle/>
          <a:p>
            <a:pPr algn="l"/>
            <a:r>
              <a:rPr sz="950" b="0" i="0">
                <a:solidFill>
                  <a:srgbClr val="F0F4F8"/>
                </a:solidFill>
              </a:rPr>
              <a:t>AI determines: assignee (based on component/dept), priority (P1–P4), and resolution steps.</a:t>
            </a:r>
          </a:p>
        </p:txBody>
      </p:sp>
      <p:sp>
        <p:nvSpPr>
          <p:cNvPr id="19" name="Rectangle 18"/>
          <p:cNvSpPr/>
          <p:nvPr/>
        </p:nvSpPr>
        <p:spPr>
          <a:xfrm>
            <a:off x="457200" y="5266944"/>
            <a:ext cx="512064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5303520"/>
            <a:ext cx="4846320" cy="292608"/>
          </a:xfrm>
          <a:prstGeom prst="rect">
            <a:avLst/>
          </a:prstGeom>
          <a:noFill/>
        </p:spPr>
        <p:txBody>
          <a:bodyPr wrap="square">
            <a:spAutoFit/>
          </a:bodyPr>
          <a:lstStyle/>
          <a:p>
            <a:pPr algn="l"/>
            <a:r>
              <a:rPr sz="1100" b="1" i="0">
                <a:solidFill>
                  <a:srgbClr val="FF6B35"/>
                </a:solidFill>
              </a:rPr>
              <a:t>5. Write Back</a:t>
            </a:r>
          </a:p>
        </p:txBody>
      </p:sp>
      <p:sp>
        <p:nvSpPr>
          <p:cNvPr id="21" name="TextBox 20"/>
          <p:cNvSpPr txBox="1"/>
          <p:nvPr/>
        </p:nvSpPr>
        <p:spPr>
          <a:xfrm>
            <a:off x="594360" y="5596128"/>
            <a:ext cx="4846320" cy="502920"/>
          </a:xfrm>
          <a:prstGeom prst="rect">
            <a:avLst/>
          </a:prstGeom>
          <a:noFill/>
        </p:spPr>
        <p:txBody>
          <a:bodyPr wrap="square">
            <a:spAutoFit/>
          </a:bodyPr>
          <a:lstStyle/>
          <a:p>
            <a:pPr algn="l"/>
            <a:r>
              <a:rPr sz="950" b="0" i="0">
                <a:solidFill>
                  <a:srgbClr val="F0F4F8"/>
                </a:solidFill>
              </a:rPr>
              <a:t>System posts a comment with resolution, updates assignee field and priority label via Jira API.</a:t>
            </a:r>
          </a:p>
        </p:txBody>
      </p:sp>
      <p:sp>
        <p:nvSpPr>
          <p:cNvPr id="22" name="Rectangle 21"/>
          <p:cNvSpPr/>
          <p:nvPr/>
        </p:nvSpPr>
        <p:spPr>
          <a:xfrm>
            <a:off x="6080760" y="1005840"/>
            <a:ext cx="5760720" cy="539496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080760" y="1005840"/>
            <a:ext cx="5760720" cy="43891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0" y="1069848"/>
            <a:ext cx="5486400" cy="347472"/>
          </a:xfrm>
          <a:prstGeom prst="rect">
            <a:avLst/>
          </a:prstGeom>
          <a:noFill/>
        </p:spPr>
        <p:txBody>
          <a:bodyPr wrap="square">
            <a:spAutoFit/>
          </a:bodyPr>
          <a:lstStyle/>
          <a:p>
            <a:pPr algn="l"/>
            <a:r>
              <a:rPr sz="1500" b="1" i="0">
                <a:solidFill>
                  <a:srgbClr val="FFFFFF"/>
                </a:solidFill>
              </a:rPr>
              <a:t>🟢  ServiceNow</a:t>
            </a:r>
          </a:p>
        </p:txBody>
      </p:sp>
      <p:sp>
        <p:nvSpPr>
          <p:cNvPr id="25" name="Rectangle 24"/>
          <p:cNvSpPr/>
          <p:nvPr/>
        </p:nvSpPr>
        <p:spPr>
          <a:xfrm>
            <a:off x="6217920" y="1536192"/>
            <a:ext cx="548640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5080" y="1572768"/>
            <a:ext cx="5212080" cy="292608"/>
          </a:xfrm>
          <a:prstGeom prst="rect">
            <a:avLst/>
          </a:prstGeom>
          <a:noFill/>
        </p:spPr>
        <p:txBody>
          <a:bodyPr wrap="square">
            <a:spAutoFit/>
          </a:bodyPr>
          <a:lstStyle/>
          <a:p>
            <a:pPr algn="l"/>
            <a:r>
              <a:rPr sz="1100" b="1" i="0">
                <a:solidFill>
                  <a:srgbClr val="2ECC71"/>
                </a:solidFill>
              </a:rPr>
              <a:t>1. Business Rule / Webhook</a:t>
            </a:r>
          </a:p>
        </p:txBody>
      </p:sp>
      <p:sp>
        <p:nvSpPr>
          <p:cNvPr id="27" name="TextBox 26"/>
          <p:cNvSpPr txBox="1"/>
          <p:nvPr/>
        </p:nvSpPr>
        <p:spPr>
          <a:xfrm>
            <a:off x="6355080" y="1865376"/>
            <a:ext cx="5212080" cy="502920"/>
          </a:xfrm>
          <a:prstGeom prst="rect">
            <a:avLst/>
          </a:prstGeom>
          <a:noFill/>
        </p:spPr>
        <p:txBody>
          <a:bodyPr wrap="square">
            <a:spAutoFit/>
          </a:bodyPr>
          <a:lstStyle/>
          <a:p>
            <a:pPr algn="l"/>
            <a:r>
              <a:rPr sz="950" b="0" i="0">
                <a:solidFill>
                  <a:srgbClr val="F0F4F8"/>
                </a:solidFill>
              </a:rPr>
              <a:t>Incident created → ServiceNow Business Rule fires outbound REST message to AI service.</a:t>
            </a:r>
          </a:p>
        </p:txBody>
      </p:sp>
      <p:sp>
        <p:nvSpPr>
          <p:cNvPr id="28" name="Rectangle 27"/>
          <p:cNvSpPr/>
          <p:nvPr/>
        </p:nvSpPr>
        <p:spPr>
          <a:xfrm>
            <a:off x="6217920" y="2468880"/>
            <a:ext cx="548640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5080" y="2505456"/>
            <a:ext cx="5212080" cy="292608"/>
          </a:xfrm>
          <a:prstGeom prst="rect">
            <a:avLst/>
          </a:prstGeom>
          <a:noFill/>
        </p:spPr>
        <p:txBody>
          <a:bodyPr wrap="square">
            <a:spAutoFit/>
          </a:bodyPr>
          <a:lstStyle/>
          <a:p>
            <a:pPr algn="l"/>
            <a:r>
              <a:rPr sz="1100" b="1" i="0">
                <a:solidFill>
                  <a:srgbClr val="2ECC71"/>
                </a:solidFill>
              </a:rPr>
              <a:t>2. Retrieve Incident Data</a:t>
            </a:r>
          </a:p>
        </p:txBody>
      </p:sp>
      <p:sp>
        <p:nvSpPr>
          <p:cNvPr id="30" name="TextBox 29"/>
          <p:cNvSpPr txBox="1"/>
          <p:nvPr/>
        </p:nvSpPr>
        <p:spPr>
          <a:xfrm>
            <a:off x="6355080" y="2798064"/>
            <a:ext cx="5212080" cy="502920"/>
          </a:xfrm>
          <a:prstGeom prst="rect">
            <a:avLst/>
          </a:prstGeom>
          <a:noFill/>
        </p:spPr>
        <p:txBody>
          <a:bodyPr wrap="square">
            <a:spAutoFit/>
          </a:bodyPr>
          <a:lstStyle/>
          <a:p>
            <a:pPr algn="l"/>
            <a:r>
              <a:rPr sz="950" b="0" i="0">
                <a:solidFill>
                  <a:srgbClr val="F0F4F8"/>
                </a:solidFill>
              </a:rPr>
              <a:t>Fetch full incident: short_desc, description, category, caller, urgency, impact.</a:t>
            </a:r>
          </a:p>
        </p:txBody>
      </p:sp>
      <p:sp>
        <p:nvSpPr>
          <p:cNvPr id="31" name="Rectangle 30"/>
          <p:cNvSpPr/>
          <p:nvPr/>
        </p:nvSpPr>
        <p:spPr>
          <a:xfrm>
            <a:off x="6217920" y="3401568"/>
            <a:ext cx="548640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3438144"/>
            <a:ext cx="5212080" cy="292608"/>
          </a:xfrm>
          <a:prstGeom prst="rect">
            <a:avLst/>
          </a:prstGeom>
          <a:noFill/>
        </p:spPr>
        <p:txBody>
          <a:bodyPr wrap="square">
            <a:spAutoFit/>
          </a:bodyPr>
          <a:lstStyle/>
          <a:p>
            <a:pPr algn="l"/>
            <a:r>
              <a:rPr sz="1100" b="1" i="0">
                <a:solidFill>
                  <a:srgbClr val="2ECC71"/>
                </a:solidFill>
              </a:rPr>
              <a:t>3. Knowledge Base Query</a:t>
            </a:r>
          </a:p>
        </p:txBody>
      </p:sp>
      <p:sp>
        <p:nvSpPr>
          <p:cNvPr id="33" name="TextBox 32"/>
          <p:cNvSpPr txBox="1"/>
          <p:nvPr/>
        </p:nvSpPr>
        <p:spPr>
          <a:xfrm>
            <a:off x="6355080" y="3730752"/>
            <a:ext cx="5212080" cy="502920"/>
          </a:xfrm>
          <a:prstGeom prst="rect">
            <a:avLst/>
          </a:prstGeom>
          <a:noFill/>
        </p:spPr>
        <p:txBody>
          <a:bodyPr wrap="square">
            <a:spAutoFit/>
          </a:bodyPr>
          <a:lstStyle/>
          <a:p>
            <a:pPr algn="l"/>
            <a:r>
              <a:rPr sz="950" b="0" i="0">
                <a:solidFill>
                  <a:srgbClr val="F0F4F8"/>
                </a:solidFill>
              </a:rPr>
              <a:t>System searches ChromaDB for top-5 matching resolutions from historical incidents.</a:t>
            </a:r>
          </a:p>
        </p:txBody>
      </p:sp>
      <p:sp>
        <p:nvSpPr>
          <p:cNvPr id="34" name="Rectangle 33"/>
          <p:cNvSpPr/>
          <p:nvPr/>
        </p:nvSpPr>
        <p:spPr>
          <a:xfrm>
            <a:off x="6217920" y="4334256"/>
            <a:ext cx="548640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5080" y="4370832"/>
            <a:ext cx="5212080" cy="292608"/>
          </a:xfrm>
          <a:prstGeom prst="rect">
            <a:avLst/>
          </a:prstGeom>
          <a:noFill/>
        </p:spPr>
        <p:txBody>
          <a:bodyPr wrap="square">
            <a:spAutoFit/>
          </a:bodyPr>
          <a:lstStyle/>
          <a:p>
            <a:pPr algn="l"/>
            <a:r>
              <a:rPr sz="1100" b="1" i="0">
                <a:solidFill>
                  <a:srgbClr val="2ECC71"/>
                </a:solidFill>
              </a:rPr>
              <a:t>4. AI Classification</a:t>
            </a:r>
          </a:p>
        </p:txBody>
      </p:sp>
      <p:sp>
        <p:nvSpPr>
          <p:cNvPr id="36" name="TextBox 35"/>
          <p:cNvSpPr txBox="1"/>
          <p:nvPr/>
        </p:nvSpPr>
        <p:spPr>
          <a:xfrm>
            <a:off x="6355080" y="4663440"/>
            <a:ext cx="5212080" cy="502920"/>
          </a:xfrm>
          <a:prstGeom prst="rect">
            <a:avLst/>
          </a:prstGeom>
          <a:noFill/>
        </p:spPr>
        <p:txBody>
          <a:bodyPr wrap="square">
            <a:spAutoFit/>
          </a:bodyPr>
          <a:lstStyle/>
          <a:p>
            <a:pPr algn="l"/>
            <a:r>
              <a:rPr sz="950" b="0" i="0">
                <a:solidFill>
                  <a:srgbClr val="F0F4F8"/>
                </a:solidFill>
              </a:rPr>
              <a:t>Cohere LLM analyses context → outputs structured JSON: assignee_group, priority, solution.</a:t>
            </a:r>
          </a:p>
        </p:txBody>
      </p:sp>
      <p:sp>
        <p:nvSpPr>
          <p:cNvPr id="37" name="Rectangle 36"/>
          <p:cNvSpPr/>
          <p:nvPr/>
        </p:nvSpPr>
        <p:spPr>
          <a:xfrm>
            <a:off x="6217920" y="5266944"/>
            <a:ext cx="5486400" cy="8229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55080" y="5303520"/>
            <a:ext cx="5212080" cy="292608"/>
          </a:xfrm>
          <a:prstGeom prst="rect">
            <a:avLst/>
          </a:prstGeom>
          <a:noFill/>
        </p:spPr>
        <p:txBody>
          <a:bodyPr wrap="square">
            <a:spAutoFit/>
          </a:bodyPr>
          <a:lstStyle/>
          <a:p>
            <a:pPr algn="l"/>
            <a:r>
              <a:rPr sz="1100" b="1" i="0">
                <a:solidFill>
                  <a:srgbClr val="2ECC71"/>
                </a:solidFill>
              </a:rPr>
              <a:t>5. Update Incident</a:t>
            </a:r>
          </a:p>
        </p:txBody>
      </p:sp>
      <p:sp>
        <p:nvSpPr>
          <p:cNvPr id="39" name="TextBox 38"/>
          <p:cNvSpPr txBox="1"/>
          <p:nvPr/>
        </p:nvSpPr>
        <p:spPr>
          <a:xfrm>
            <a:off x="6355080" y="5596128"/>
            <a:ext cx="5212080" cy="502920"/>
          </a:xfrm>
          <a:prstGeom prst="rect">
            <a:avLst/>
          </a:prstGeom>
          <a:noFill/>
        </p:spPr>
        <p:txBody>
          <a:bodyPr wrap="square">
            <a:spAutoFit/>
          </a:bodyPr>
          <a:lstStyle/>
          <a:p>
            <a:pPr algn="l"/>
            <a:r>
              <a:rPr sz="950" b="0" i="0">
                <a:solidFill>
                  <a:srgbClr val="F0F4F8"/>
                </a:solidFill>
              </a:rPr>
              <a:t>Scripted REST pushes resolution note to work notes, sets assignment_group and priority.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2800" b="1" i="0">
                <a:solidFill>
                  <a:srgbClr val="FFFFFF"/>
                </a:solidFill>
              </a:rPr>
              <a:t>Auto-Assignment &amp; Priority Intelligence</a:t>
            </a:r>
          </a:p>
        </p:txBody>
      </p:sp>
      <p:sp>
        <p:nvSpPr>
          <p:cNvPr id="4" name="Rectangle 3"/>
          <p:cNvSpPr/>
          <p:nvPr/>
        </p:nvSpPr>
        <p:spPr>
          <a:xfrm>
            <a:off x="320040" y="1024128"/>
            <a:ext cx="5486400" cy="530352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24128"/>
            <a:ext cx="5486400" cy="4114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78992"/>
            <a:ext cx="5212080" cy="347472"/>
          </a:xfrm>
          <a:prstGeom prst="rect">
            <a:avLst/>
          </a:prstGeom>
          <a:noFill/>
        </p:spPr>
        <p:txBody>
          <a:bodyPr wrap="square">
            <a:spAutoFit/>
          </a:bodyPr>
          <a:lstStyle/>
          <a:p>
            <a:pPr algn="l"/>
            <a:r>
              <a:rPr sz="1400" b="1" i="0">
                <a:solidFill>
                  <a:srgbClr val="FFFFFF"/>
                </a:solidFill>
              </a:rPr>
              <a:t>🎯  Smart Assignee Detection</a:t>
            </a:r>
          </a:p>
        </p:txBody>
      </p:sp>
      <p:sp>
        <p:nvSpPr>
          <p:cNvPr id="7" name="Rectangle 6"/>
          <p:cNvSpPr/>
          <p:nvPr/>
        </p:nvSpPr>
        <p:spPr>
          <a:xfrm>
            <a:off x="457200" y="1536192"/>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536192"/>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591056"/>
            <a:ext cx="4937760" cy="548640"/>
          </a:xfrm>
          <a:prstGeom prst="rect">
            <a:avLst/>
          </a:prstGeom>
          <a:noFill/>
        </p:spPr>
        <p:txBody>
          <a:bodyPr wrap="square">
            <a:spAutoFit/>
          </a:bodyPr>
          <a:lstStyle/>
          <a:p>
            <a:pPr algn="l"/>
            <a:r>
              <a:rPr sz="1000" b="0" i="0">
                <a:solidFill>
                  <a:srgbClr val="F0F4F8"/>
                </a:solidFill>
              </a:rPr>
              <a:t>Ticket keywords mapped to department taxonomy (Infra, HR, Finance, General)</a:t>
            </a:r>
          </a:p>
        </p:txBody>
      </p:sp>
      <p:sp>
        <p:nvSpPr>
          <p:cNvPr id="10" name="Rectangle 9"/>
          <p:cNvSpPr/>
          <p:nvPr/>
        </p:nvSpPr>
        <p:spPr>
          <a:xfrm>
            <a:off x="457200" y="2286000"/>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2286000"/>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340864"/>
            <a:ext cx="4937760" cy="548640"/>
          </a:xfrm>
          <a:prstGeom prst="rect">
            <a:avLst/>
          </a:prstGeom>
          <a:noFill/>
        </p:spPr>
        <p:txBody>
          <a:bodyPr wrap="square">
            <a:spAutoFit/>
          </a:bodyPr>
          <a:lstStyle/>
          <a:p>
            <a:pPr algn="l"/>
            <a:r>
              <a:rPr sz="1000" b="0" i="0">
                <a:solidFill>
                  <a:srgbClr val="F0F4F8"/>
                </a:solidFill>
              </a:rPr>
              <a:t>Similarity search finds the agent/team who resolved the most similar past tickets</a:t>
            </a:r>
          </a:p>
        </p:txBody>
      </p:sp>
      <p:sp>
        <p:nvSpPr>
          <p:cNvPr id="13" name="Rectangle 12"/>
          <p:cNvSpPr/>
          <p:nvPr/>
        </p:nvSpPr>
        <p:spPr>
          <a:xfrm>
            <a:off x="457200" y="3035808"/>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035808"/>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90672"/>
            <a:ext cx="4937760" cy="548640"/>
          </a:xfrm>
          <a:prstGeom prst="rect">
            <a:avLst/>
          </a:prstGeom>
          <a:noFill/>
        </p:spPr>
        <p:txBody>
          <a:bodyPr wrap="square">
            <a:spAutoFit/>
          </a:bodyPr>
          <a:lstStyle/>
          <a:p>
            <a:pPr algn="l"/>
            <a:r>
              <a:rPr sz="1000" b="0" i="0">
                <a:solidFill>
                  <a:srgbClr val="F0F4F8"/>
                </a:solidFill>
              </a:rPr>
              <a:t>If multiple candidates: system ranks by recency, resolution success rate</a:t>
            </a:r>
          </a:p>
        </p:txBody>
      </p:sp>
      <p:sp>
        <p:nvSpPr>
          <p:cNvPr id="16" name="Rectangle 15"/>
          <p:cNvSpPr/>
          <p:nvPr/>
        </p:nvSpPr>
        <p:spPr>
          <a:xfrm>
            <a:off x="457200" y="3785615"/>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85615"/>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840480"/>
            <a:ext cx="4937760" cy="548640"/>
          </a:xfrm>
          <a:prstGeom prst="rect">
            <a:avLst/>
          </a:prstGeom>
          <a:noFill/>
        </p:spPr>
        <p:txBody>
          <a:bodyPr wrap="square">
            <a:spAutoFit/>
          </a:bodyPr>
          <a:lstStyle/>
          <a:p>
            <a:pPr algn="l"/>
            <a:r>
              <a:rPr sz="1000" b="0" i="0">
                <a:solidFill>
                  <a:srgbClr val="F0F4F8"/>
                </a:solidFill>
              </a:rPr>
              <a:t>Falls back to team/group assignment when individual mapping is unavailable</a:t>
            </a:r>
          </a:p>
        </p:txBody>
      </p:sp>
      <p:sp>
        <p:nvSpPr>
          <p:cNvPr id="19" name="Rectangle 18"/>
          <p:cNvSpPr/>
          <p:nvPr/>
        </p:nvSpPr>
        <p:spPr>
          <a:xfrm>
            <a:off x="457200" y="4535424"/>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4535424"/>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590288"/>
            <a:ext cx="4937760" cy="548640"/>
          </a:xfrm>
          <a:prstGeom prst="rect">
            <a:avLst/>
          </a:prstGeom>
          <a:noFill/>
        </p:spPr>
        <p:txBody>
          <a:bodyPr wrap="square">
            <a:spAutoFit/>
          </a:bodyPr>
          <a:lstStyle/>
          <a:p>
            <a:pPr algn="l"/>
            <a:r>
              <a:rPr sz="1000" b="0" i="0">
                <a:solidFill>
                  <a:srgbClr val="F0F4F8"/>
                </a:solidFill>
              </a:rPr>
              <a:t>Supports skill-based routing: e.g. 'VPN issues' → Network team</a:t>
            </a:r>
          </a:p>
        </p:txBody>
      </p:sp>
      <p:sp>
        <p:nvSpPr>
          <p:cNvPr id="22" name="Rectangle 21"/>
          <p:cNvSpPr/>
          <p:nvPr/>
        </p:nvSpPr>
        <p:spPr>
          <a:xfrm>
            <a:off x="457200" y="5285231"/>
            <a:ext cx="5212080" cy="64008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285231"/>
            <a:ext cx="54864" cy="64008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5340096"/>
            <a:ext cx="4937760" cy="548640"/>
          </a:xfrm>
          <a:prstGeom prst="rect">
            <a:avLst/>
          </a:prstGeom>
          <a:noFill/>
        </p:spPr>
        <p:txBody>
          <a:bodyPr wrap="square">
            <a:spAutoFit/>
          </a:bodyPr>
          <a:lstStyle/>
          <a:p>
            <a:pPr algn="l"/>
            <a:r>
              <a:rPr sz="1000" b="0" i="0">
                <a:solidFill>
                  <a:srgbClr val="F0F4F8"/>
                </a:solidFill>
              </a:rPr>
              <a:t>Works across regions: India tickets routed to India team, US tickets to US team</a:t>
            </a:r>
          </a:p>
        </p:txBody>
      </p:sp>
      <p:sp>
        <p:nvSpPr>
          <p:cNvPr id="25" name="Rectangle 24"/>
          <p:cNvSpPr/>
          <p:nvPr/>
        </p:nvSpPr>
        <p:spPr>
          <a:xfrm>
            <a:off x="6172200" y="1024128"/>
            <a:ext cx="5669280" cy="530352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72200" y="1024128"/>
            <a:ext cx="5669280" cy="4114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09360" y="1078992"/>
            <a:ext cx="5394960" cy="347472"/>
          </a:xfrm>
          <a:prstGeom prst="rect">
            <a:avLst/>
          </a:prstGeom>
          <a:noFill/>
        </p:spPr>
        <p:txBody>
          <a:bodyPr wrap="square">
            <a:spAutoFit/>
          </a:bodyPr>
          <a:lstStyle/>
          <a:p>
            <a:pPr algn="l"/>
            <a:r>
              <a:rPr sz="1400" b="1" i="0">
                <a:solidFill>
                  <a:srgbClr val="FFFFFF"/>
                </a:solidFill>
              </a:rPr>
              <a:t>🚨  Priority Scoring Matrix</a:t>
            </a:r>
          </a:p>
        </p:txBody>
      </p:sp>
      <p:sp>
        <p:nvSpPr>
          <p:cNvPr id="28" name="Rectangle 27"/>
          <p:cNvSpPr/>
          <p:nvPr/>
        </p:nvSpPr>
        <p:spPr>
          <a:xfrm>
            <a:off x="6309360" y="1536192"/>
            <a:ext cx="5349240" cy="10515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309360" y="1536192"/>
            <a:ext cx="109728" cy="105156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92240" y="1591056"/>
            <a:ext cx="5074920" cy="320040"/>
          </a:xfrm>
          <a:prstGeom prst="rect">
            <a:avLst/>
          </a:prstGeom>
          <a:noFill/>
        </p:spPr>
        <p:txBody>
          <a:bodyPr wrap="square">
            <a:spAutoFit/>
          </a:bodyPr>
          <a:lstStyle/>
          <a:p>
            <a:pPr algn="l"/>
            <a:r>
              <a:rPr sz="1200" b="1" i="0">
                <a:solidFill>
                  <a:srgbClr val="E74C3C"/>
                </a:solidFill>
              </a:rPr>
              <a:t>P1 – Critical</a:t>
            </a:r>
          </a:p>
        </p:txBody>
      </p:sp>
      <p:sp>
        <p:nvSpPr>
          <p:cNvPr id="31" name="TextBox 30"/>
          <p:cNvSpPr txBox="1"/>
          <p:nvPr/>
        </p:nvSpPr>
        <p:spPr>
          <a:xfrm>
            <a:off x="6492240" y="1920240"/>
            <a:ext cx="5074920" cy="594360"/>
          </a:xfrm>
          <a:prstGeom prst="rect">
            <a:avLst/>
          </a:prstGeom>
          <a:noFill/>
        </p:spPr>
        <p:txBody>
          <a:bodyPr wrap="square">
            <a:spAutoFit/>
          </a:bodyPr>
          <a:lstStyle/>
          <a:p>
            <a:pPr algn="l"/>
            <a:r>
              <a:rPr sz="1000" b="0" i="0">
                <a:solidFill>
                  <a:srgbClr val="F0F4F8"/>
                </a:solidFill>
              </a:rPr>
              <a:t>Production down, data loss, security breach
Immediate page + auto-escalate</a:t>
            </a:r>
          </a:p>
        </p:txBody>
      </p:sp>
      <p:sp>
        <p:nvSpPr>
          <p:cNvPr id="32" name="Rectangle 31"/>
          <p:cNvSpPr/>
          <p:nvPr/>
        </p:nvSpPr>
        <p:spPr>
          <a:xfrm>
            <a:off x="6309360" y="2706624"/>
            <a:ext cx="5349240" cy="10515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09360" y="2706624"/>
            <a:ext cx="109728" cy="10515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92240" y="2761488"/>
            <a:ext cx="5074920" cy="320040"/>
          </a:xfrm>
          <a:prstGeom prst="rect">
            <a:avLst/>
          </a:prstGeom>
          <a:noFill/>
        </p:spPr>
        <p:txBody>
          <a:bodyPr wrap="square">
            <a:spAutoFit/>
          </a:bodyPr>
          <a:lstStyle/>
          <a:p>
            <a:pPr algn="l"/>
            <a:r>
              <a:rPr sz="1200" b="1" i="0">
                <a:solidFill>
                  <a:srgbClr val="FF6B35"/>
                </a:solidFill>
              </a:rPr>
              <a:t>P2 – High</a:t>
            </a:r>
          </a:p>
        </p:txBody>
      </p:sp>
      <p:sp>
        <p:nvSpPr>
          <p:cNvPr id="35" name="TextBox 34"/>
          <p:cNvSpPr txBox="1"/>
          <p:nvPr/>
        </p:nvSpPr>
        <p:spPr>
          <a:xfrm>
            <a:off x="6492240" y="3090672"/>
            <a:ext cx="5074920" cy="594360"/>
          </a:xfrm>
          <a:prstGeom prst="rect">
            <a:avLst/>
          </a:prstGeom>
          <a:noFill/>
        </p:spPr>
        <p:txBody>
          <a:bodyPr wrap="square">
            <a:spAutoFit/>
          </a:bodyPr>
          <a:lstStyle/>
          <a:p>
            <a:pPr algn="l"/>
            <a:r>
              <a:rPr sz="1000" b="0" i="0">
                <a:solidFill>
                  <a:srgbClr val="F0F4F8"/>
                </a:solidFill>
              </a:rPr>
              <a:t>Major feature broken, &gt;10 users affected
Assign within 1 hour</a:t>
            </a:r>
          </a:p>
        </p:txBody>
      </p:sp>
      <p:sp>
        <p:nvSpPr>
          <p:cNvPr id="36" name="Rectangle 35"/>
          <p:cNvSpPr/>
          <p:nvPr/>
        </p:nvSpPr>
        <p:spPr>
          <a:xfrm>
            <a:off x="6309360" y="3877056"/>
            <a:ext cx="5349240" cy="10515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09360" y="3877056"/>
            <a:ext cx="109728" cy="105156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92240" y="3931920"/>
            <a:ext cx="5074920" cy="320040"/>
          </a:xfrm>
          <a:prstGeom prst="rect">
            <a:avLst/>
          </a:prstGeom>
          <a:noFill/>
        </p:spPr>
        <p:txBody>
          <a:bodyPr wrap="square">
            <a:spAutoFit/>
          </a:bodyPr>
          <a:lstStyle/>
          <a:p>
            <a:pPr algn="l"/>
            <a:r>
              <a:rPr sz="1200" b="1" i="0">
                <a:solidFill>
                  <a:srgbClr val="F39C12"/>
                </a:solidFill>
              </a:rPr>
              <a:t>P3 – Medium</a:t>
            </a:r>
          </a:p>
        </p:txBody>
      </p:sp>
      <p:sp>
        <p:nvSpPr>
          <p:cNvPr id="39" name="TextBox 38"/>
          <p:cNvSpPr txBox="1"/>
          <p:nvPr/>
        </p:nvSpPr>
        <p:spPr>
          <a:xfrm>
            <a:off x="6492240" y="4261104"/>
            <a:ext cx="5074920" cy="594360"/>
          </a:xfrm>
          <a:prstGeom prst="rect">
            <a:avLst/>
          </a:prstGeom>
          <a:noFill/>
        </p:spPr>
        <p:txBody>
          <a:bodyPr wrap="square">
            <a:spAutoFit/>
          </a:bodyPr>
          <a:lstStyle/>
          <a:p>
            <a:pPr algn="l"/>
            <a:r>
              <a:rPr sz="1000" b="0" i="0">
                <a:solidFill>
                  <a:srgbClr val="F0F4F8"/>
                </a:solidFill>
              </a:rPr>
              <a:t>Minor functionality impacted, workaround exists
Assign within 4 hours</a:t>
            </a:r>
          </a:p>
        </p:txBody>
      </p:sp>
      <p:sp>
        <p:nvSpPr>
          <p:cNvPr id="40" name="Rectangle 39"/>
          <p:cNvSpPr/>
          <p:nvPr/>
        </p:nvSpPr>
        <p:spPr>
          <a:xfrm>
            <a:off x="6309360" y="5047488"/>
            <a:ext cx="5349240" cy="105156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5047488"/>
            <a:ext cx="109728" cy="105156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92240" y="5102352"/>
            <a:ext cx="5074920" cy="320040"/>
          </a:xfrm>
          <a:prstGeom prst="rect">
            <a:avLst/>
          </a:prstGeom>
          <a:noFill/>
        </p:spPr>
        <p:txBody>
          <a:bodyPr wrap="square">
            <a:spAutoFit/>
          </a:bodyPr>
          <a:lstStyle/>
          <a:p>
            <a:pPr algn="l"/>
            <a:r>
              <a:rPr sz="1200" b="1" i="0">
                <a:solidFill>
                  <a:srgbClr val="2ECC71"/>
                </a:solidFill>
              </a:rPr>
              <a:t>P4 – Low</a:t>
            </a:r>
          </a:p>
        </p:txBody>
      </p:sp>
      <p:sp>
        <p:nvSpPr>
          <p:cNvPr id="43" name="TextBox 42"/>
          <p:cNvSpPr txBox="1"/>
          <p:nvPr/>
        </p:nvSpPr>
        <p:spPr>
          <a:xfrm>
            <a:off x="6492240" y="5431536"/>
            <a:ext cx="5074920" cy="594360"/>
          </a:xfrm>
          <a:prstGeom prst="rect">
            <a:avLst/>
          </a:prstGeom>
          <a:noFill/>
        </p:spPr>
        <p:txBody>
          <a:bodyPr wrap="square">
            <a:spAutoFit/>
          </a:bodyPr>
          <a:lstStyle/>
          <a:p>
            <a:pPr algn="l"/>
            <a:r>
              <a:rPr sz="1000" b="0" i="0">
                <a:solidFill>
                  <a:srgbClr val="F0F4F8"/>
                </a:solidFill>
              </a:rPr>
              <a:t>Cosmetic issue, how-to question, enhancement
Best effort / backlog</a:t>
            </a:r>
          </a:p>
        </p:txBody>
      </p:sp>
      <p:sp>
        <p:nvSpPr>
          <p:cNvPr id="44" name="Rectangle 43"/>
          <p:cNvSpPr/>
          <p:nvPr/>
        </p:nvSpPr>
        <p:spPr>
          <a:xfrm>
            <a:off x="6309360" y="6099048"/>
            <a:ext cx="5349240" cy="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CRM Integration</a:t>
            </a:r>
          </a:p>
        </p:txBody>
      </p:sp>
      <p:sp>
        <p:nvSpPr>
          <p:cNvPr id="4" name="TextBox 3"/>
          <p:cNvSpPr txBox="1"/>
          <p:nvPr/>
        </p:nvSpPr>
        <p:spPr>
          <a:xfrm>
            <a:off x="365760" y="1005840"/>
            <a:ext cx="11430000" cy="777240"/>
          </a:xfrm>
          <a:prstGeom prst="rect">
            <a:avLst/>
          </a:prstGeom>
          <a:noFill/>
        </p:spPr>
        <p:txBody>
          <a:bodyPr wrap="square">
            <a:spAutoFit/>
          </a:bodyPr>
          <a:lstStyle/>
          <a:p>
            <a:pPr algn="l"/>
            <a:r>
              <a:rPr sz="1200" b="0" i="0">
                <a:solidFill>
                  <a:srgbClr val="F0F4F8"/>
                </a:solidFill>
              </a:rPr>
              <a:t>Connect the AI engine to any CRM (Salesforce, HubSpot, Zoho, Freshdesk, etc.) to automatically identify problems, match them to historical resolutions, and deliver answers directly within the CRM workflow — no context switching for agents.</a:t>
            </a:r>
          </a:p>
        </p:txBody>
      </p:sp>
      <p:sp>
        <p:nvSpPr>
          <p:cNvPr id="5" name="Rectangle 4"/>
          <p:cNvSpPr/>
          <p:nvPr/>
        </p:nvSpPr>
        <p:spPr>
          <a:xfrm>
            <a:off x="320040" y="192024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920240"/>
            <a:ext cx="3749039" cy="73152"/>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84632" y="2103120"/>
            <a:ext cx="3383280" cy="411480"/>
          </a:xfrm>
          <a:prstGeom prst="rect">
            <a:avLst/>
          </a:prstGeom>
          <a:noFill/>
        </p:spPr>
        <p:txBody>
          <a:bodyPr wrap="square">
            <a:spAutoFit/>
          </a:bodyPr>
          <a:lstStyle/>
          <a:p>
            <a:pPr algn="l"/>
            <a:r>
              <a:rPr sz="1200" b="1" i="0">
                <a:solidFill>
                  <a:srgbClr val="1B6CA8"/>
                </a:solidFill>
              </a:rPr>
              <a:t>📥 Auto-Ingest Past Cases</a:t>
            </a:r>
          </a:p>
        </p:txBody>
      </p:sp>
      <p:sp>
        <p:nvSpPr>
          <p:cNvPr id="8" name="TextBox 7"/>
          <p:cNvSpPr txBox="1"/>
          <p:nvPr/>
        </p:nvSpPr>
        <p:spPr>
          <a:xfrm>
            <a:off x="484632" y="2560320"/>
            <a:ext cx="3383280" cy="1051560"/>
          </a:xfrm>
          <a:prstGeom prst="rect">
            <a:avLst/>
          </a:prstGeom>
          <a:noFill/>
        </p:spPr>
        <p:txBody>
          <a:bodyPr wrap="square">
            <a:spAutoFit/>
          </a:bodyPr>
          <a:lstStyle/>
          <a:p>
            <a:pPr algn="l"/>
            <a:r>
              <a:rPr sz="1050" b="0" i="0">
                <a:solidFill>
                  <a:srgbClr val="F0F4F8"/>
                </a:solidFill>
              </a:rPr>
              <a:t>Bulk sync historical CRM cases into the knowledge base. Each case becomes a searchable resolution vector.</a:t>
            </a:r>
          </a:p>
        </p:txBody>
      </p:sp>
      <p:sp>
        <p:nvSpPr>
          <p:cNvPr id="9" name="Rectangle 8"/>
          <p:cNvSpPr/>
          <p:nvPr/>
        </p:nvSpPr>
        <p:spPr>
          <a:xfrm>
            <a:off x="4297679" y="192024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79" y="1920240"/>
            <a:ext cx="3749039" cy="73152"/>
          </a:xfrm>
          <a:prstGeom prst="rect">
            <a:avLst/>
          </a:prstGeom>
          <a:solidFill>
            <a:srgbClr val="16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62271" y="2103120"/>
            <a:ext cx="3383280" cy="411480"/>
          </a:xfrm>
          <a:prstGeom prst="rect">
            <a:avLst/>
          </a:prstGeom>
          <a:noFill/>
        </p:spPr>
        <p:txBody>
          <a:bodyPr wrap="square">
            <a:spAutoFit/>
          </a:bodyPr>
          <a:lstStyle/>
          <a:p>
            <a:pPr algn="l"/>
            <a:r>
              <a:rPr sz="1200" b="1" i="0">
                <a:solidFill>
                  <a:srgbClr val="16A085"/>
                </a:solidFill>
              </a:rPr>
              <a:t>🔔 Real-Time Case Trigger</a:t>
            </a:r>
          </a:p>
        </p:txBody>
      </p:sp>
      <p:sp>
        <p:nvSpPr>
          <p:cNvPr id="12" name="TextBox 11"/>
          <p:cNvSpPr txBox="1"/>
          <p:nvPr/>
        </p:nvSpPr>
        <p:spPr>
          <a:xfrm>
            <a:off x="4462271" y="2560320"/>
            <a:ext cx="3383280" cy="1051560"/>
          </a:xfrm>
          <a:prstGeom prst="rect">
            <a:avLst/>
          </a:prstGeom>
          <a:noFill/>
        </p:spPr>
        <p:txBody>
          <a:bodyPr wrap="square">
            <a:spAutoFit/>
          </a:bodyPr>
          <a:lstStyle/>
          <a:p>
            <a:pPr algn="l"/>
            <a:r>
              <a:rPr sz="1050" b="0" i="0">
                <a:solidFill>
                  <a:srgbClr val="F0F4F8"/>
                </a:solidFill>
              </a:rPr>
              <a:t>New case opened → webhook fires → system analyses and enriches the case before any agent touches it.</a:t>
            </a:r>
          </a:p>
        </p:txBody>
      </p:sp>
      <p:sp>
        <p:nvSpPr>
          <p:cNvPr id="13" name="Rectangle 12"/>
          <p:cNvSpPr/>
          <p:nvPr/>
        </p:nvSpPr>
        <p:spPr>
          <a:xfrm>
            <a:off x="8275319" y="192024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75319" y="1920240"/>
            <a:ext cx="3749039" cy="7315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9911" y="2103120"/>
            <a:ext cx="3383280" cy="411480"/>
          </a:xfrm>
          <a:prstGeom prst="rect">
            <a:avLst/>
          </a:prstGeom>
          <a:noFill/>
        </p:spPr>
        <p:txBody>
          <a:bodyPr wrap="square">
            <a:spAutoFit/>
          </a:bodyPr>
          <a:lstStyle/>
          <a:p>
            <a:pPr algn="l"/>
            <a:r>
              <a:rPr sz="1200" b="1" i="0">
                <a:solidFill>
                  <a:srgbClr val="2ECC71"/>
                </a:solidFill>
              </a:rPr>
              <a:t>🤖 AI-Powered Suggestions</a:t>
            </a:r>
          </a:p>
        </p:txBody>
      </p:sp>
      <p:sp>
        <p:nvSpPr>
          <p:cNvPr id="16" name="TextBox 15"/>
          <p:cNvSpPr txBox="1"/>
          <p:nvPr/>
        </p:nvSpPr>
        <p:spPr>
          <a:xfrm>
            <a:off x="8439911" y="2560320"/>
            <a:ext cx="3383280" cy="1051560"/>
          </a:xfrm>
          <a:prstGeom prst="rect">
            <a:avLst/>
          </a:prstGeom>
          <a:noFill/>
        </p:spPr>
        <p:txBody>
          <a:bodyPr wrap="square">
            <a:spAutoFit/>
          </a:bodyPr>
          <a:lstStyle/>
          <a:p>
            <a:pPr algn="l"/>
            <a:r>
              <a:rPr sz="1050" b="0" i="0">
                <a:solidFill>
                  <a:srgbClr val="F0F4F8"/>
                </a:solidFill>
              </a:rPr>
              <a:t>System suggests resolution steps, links to similar past cases, and confidence score — right inside the CRM.</a:t>
            </a:r>
          </a:p>
        </p:txBody>
      </p:sp>
      <p:sp>
        <p:nvSpPr>
          <p:cNvPr id="17" name="Rectangle 16"/>
          <p:cNvSpPr/>
          <p:nvPr/>
        </p:nvSpPr>
        <p:spPr>
          <a:xfrm>
            <a:off x="320040" y="393192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20040" y="3931920"/>
            <a:ext cx="3749039" cy="73152"/>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4632" y="4114800"/>
            <a:ext cx="3383280" cy="411480"/>
          </a:xfrm>
          <a:prstGeom prst="rect">
            <a:avLst/>
          </a:prstGeom>
          <a:noFill/>
        </p:spPr>
        <p:txBody>
          <a:bodyPr wrap="square">
            <a:spAutoFit/>
          </a:bodyPr>
          <a:lstStyle/>
          <a:p>
            <a:pPr algn="l"/>
            <a:r>
              <a:rPr sz="1200" b="1" i="0">
                <a:solidFill>
                  <a:srgbClr val="FF6B35"/>
                </a:solidFill>
              </a:rPr>
              <a:t>👤 Smart Routing</a:t>
            </a:r>
          </a:p>
        </p:txBody>
      </p:sp>
      <p:sp>
        <p:nvSpPr>
          <p:cNvPr id="20" name="TextBox 19"/>
          <p:cNvSpPr txBox="1"/>
          <p:nvPr/>
        </p:nvSpPr>
        <p:spPr>
          <a:xfrm>
            <a:off x="484632" y="4572000"/>
            <a:ext cx="3383280" cy="1051560"/>
          </a:xfrm>
          <a:prstGeom prst="rect">
            <a:avLst/>
          </a:prstGeom>
          <a:noFill/>
        </p:spPr>
        <p:txBody>
          <a:bodyPr wrap="square">
            <a:spAutoFit/>
          </a:bodyPr>
          <a:lstStyle/>
          <a:p>
            <a:pPr algn="l"/>
            <a:r>
              <a:rPr sz="1050" b="0" i="0">
                <a:solidFill>
                  <a:srgbClr val="F0F4F8"/>
                </a:solidFill>
              </a:rPr>
              <a:t>Route cases to the best-fit agent based on skill matching, historical success, and current workload.</a:t>
            </a:r>
          </a:p>
        </p:txBody>
      </p:sp>
      <p:sp>
        <p:nvSpPr>
          <p:cNvPr id="21" name="Rectangle 20"/>
          <p:cNvSpPr/>
          <p:nvPr/>
        </p:nvSpPr>
        <p:spPr>
          <a:xfrm>
            <a:off x="4297679" y="393192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79" y="3931920"/>
            <a:ext cx="3749039" cy="73152"/>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62271" y="4114800"/>
            <a:ext cx="3383280" cy="411480"/>
          </a:xfrm>
          <a:prstGeom prst="rect">
            <a:avLst/>
          </a:prstGeom>
          <a:noFill/>
        </p:spPr>
        <p:txBody>
          <a:bodyPr wrap="square">
            <a:spAutoFit/>
          </a:bodyPr>
          <a:lstStyle/>
          <a:p>
            <a:pPr algn="l"/>
            <a:r>
              <a:rPr sz="1200" b="1" i="0">
                <a:solidFill>
                  <a:srgbClr val="8E44AD"/>
                </a:solidFill>
              </a:rPr>
              <a:t>📈 Analytics Layer</a:t>
            </a:r>
          </a:p>
        </p:txBody>
      </p:sp>
      <p:sp>
        <p:nvSpPr>
          <p:cNvPr id="24" name="TextBox 23"/>
          <p:cNvSpPr txBox="1"/>
          <p:nvPr/>
        </p:nvSpPr>
        <p:spPr>
          <a:xfrm>
            <a:off x="4462271" y="4572000"/>
            <a:ext cx="3383280" cy="1051560"/>
          </a:xfrm>
          <a:prstGeom prst="rect">
            <a:avLst/>
          </a:prstGeom>
          <a:noFill/>
        </p:spPr>
        <p:txBody>
          <a:bodyPr wrap="square">
            <a:spAutoFit/>
          </a:bodyPr>
          <a:lstStyle/>
          <a:p>
            <a:pPr algn="l"/>
            <a:r>
              <a:rPr sz="1050" b="0" i="0">
                <a:solidFill>
                  <a:srgbClr val="F0F4F8"/>
                </a:solidFill>
              </a:rPr>
              <a:t>Track resolution times, confidence trends, top recurring issues, and agent performance over time.</a:t>
            </a:r>
          </a:p>
        </p:txBody>
      </p:sp>
      <p:sp>
        <p:nvSpPr>
          <p:cNvPr id="25" name="Rectangle 24"/>
          <p:cNvSpPr/>
          <p:nvPr/>
        </p:nvSpPr>
        <p:spPr>
          <a:xfrm>
            <a:off x="8275319" y="3931920"/>
            <a:ext cx="3749039" cy="1828800"/>
          </a:xfrm>
          <a:prstGeom prst="rect">
            <a:avLst/>
          </a:prstGeom>
          <a:solidFill>
            <a:srgbClr val="0E22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75319" y="3931920"/>
            <a:ext cx="3749039" cy="73152"/>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39911" y="4114800"/>
            <a:ext cx="3383280" cy="411480"/>
          </a:xfrm>
          <a:prstGeom prst="rect">
            <a:avLst/>
          </a:prstGeom>
          <a:noFill/>
        </p:spPr>
        <p:txBody>
          <a:bodyPr wrap="square">
            <a:spAutoFit/>
          </a:bodyPr>
          <a:lstStyle/>
          <a:p>
            <a:pPr algn="l"/>
            <a:r>
              <a:rPr sz="1200" b="1" i="0">
                <a:solidFill>
                  <a:srgbClr val="4FA3D8"/>
                </a:solidFill>
              </a:rPr>
              <a:t>🔄 Bidirectional Sync</a:t>
            </a:r>
          </a:p>
        </p:txBody>
      </p:sp>
      <p:sp>
        <p:nvSpPr>
          <p:cNvPr id="28" name="TextBox 27"/>
          <p:cNvSpPr txBox="1"/>
          <p:nvPr/>
        </p:nvSpPr>
        <p:spPr>
          <a:xfrm>
            <a:off x="8439911" y="4572000"/>
            <a:ext cx="3383280" cy="1051560"/>
          </a:xfrm>
          <a:prstGeom prst="rect">
            <a:avLst/>
          </a:prstGeom>
          <a:noFill/>
        </p:spPr>
        <p:txBody>
          <a:bodyPr wrap="square">
            <a:spAutoFit/>
          </a:bodyPr>
          <a:lstStyle/>
          <a:p>
            <a:pPr algn="l"/>
            <a:r>
              <a:rPr sz="1050" b="0" i="0">
                <a:solidFill>
                  <a:srgbClr val="F0F4F8"/>
                </a:solidFill>
              </a:rPr>
              <a:t>When an agent resolves the ticket, the solution is automatically ingested back into the knowledge base.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200" b="1" i="0">
                <a:solidFill>
                  <a:srgbClr val="FFFFFF"/>
                </a:solidFill>
              </a:rPr>
              <a:t>Application UI Walkthrough</a:t>
            </a:r>
          </a:p>
        </p:txBody>
      </p:sp>
      <p:sp>
        <p:nvSpPr>
          <p:cNvPr id="4" name="Rectangle 3"/>
          <p:cNvSpPr/>
          <p:nvPr/>
        </p:nvSpPr>
        <p:spPr>
          <a:xfrm>
            <a:off x="320040" y="1051560"/>
            <a:ext cx="5577840" cy="3474720"/>
          </a:xfrm>
          <a:prstGeom prst="rect">
            <a:avLst/>
          </a:prstGeom>
          <a:solidFill>
            <a:srgbClr val="0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20040" y="1051560"/>
            <a:ext cx="5577840" cy="347472"/>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5303520" cy="292608"/>
          </a:xfrm>
          <a:prstGeom prst="rect">
            <a:avLst/>
          </a:prstGeom>
          <a:noFill/>
        </p:spPr>
        <p:txBody>
          <a:bodyPr wrap="square">
            <a:spAutoFit/>
          </a:bodyPr>
          <a:lstStyle/>
          <a:p>
            <a:pPr algn="l"/>
            <a:r>
              <a:rPr sz="1300" b="1" i="0">
                <a:solidFill>
                  <a:srgbClr val="FFFFFF"/>
                </a:solidFill>
              </a:rPr>
              <a:t>Chat Interface</a:t>
            </a:r>
          </a:p>
        </p:txBody>
      </p:sp>
      <p:sp>
        <p:nvSpPr>
          <p:cNvPr id="7" name="Rectangle 6"/>
          <p:cNvSpPr/>
          <p:nvPr/>
        </p:nvSpPr>
        <p:spPr>
          <a:xfrm>
            <a:off x="502920" y="155448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219456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2834639"/>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02920" y="347472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02920" y="1554480"/>
            <a:ext cx="1645920" cy="411480"/>
          </a:xfrm>
          <a:prstGeom prst="rect">
            <a:avLst/>
          </a:prstGeom>
          <a:solidFill>
            <a:srgbClr val="1B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59" y="1618488"/>
            <a:ext cx="1371600" cy="274320"/>
          </a:xfrm>
          <a:prstGeom prst="rect">
            <a:avLst/>
          </a:prstGeom>
          <a:noFill/>
        </p:spPr>
        <p:txBody>
          <a:bodyPr wrap="square">
            <a:spAutoFit/>
          </a:bodyPr>
          <a:lstStyle/>
          <a:p>
            <a:pPr algn="l"/>
            <a:r>
              <a:rPr sz="900" b="0" i="0">
                <a:solidFill>
                  <a:srgbClr val="A0B0C0"/>
                </a:solidFill>
              </a:rPr>
              <a:t>Region ▾</a:t>
            </a:r>
          </a:p>
        </p:txBody>
      </p:sp>
      <p:sp>
        <p:nvSpPr>
          <p:cNvPr id="13" name="Rectangle 12"/>
          <p:cNvSpPr/>
          <p:nvPr/>
        </p:nvSpPr>
        <p:spPr>
          <a:xfrm>
            <a:off x="2240280" y="1554480"/>
            <a:ext cx="1645920" cy="411480"/>
          </a:xfrm>
          <a:prstGeom prst="rect">
            <a:avLst/>
          </a:prstGeom>
          <a:solidFill>
            <a:srgbClr val="1B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331720" y="1618488"/>
            <a:ext cx="1463040" cy="274320"/>
          </a:xfrm>
          <a:prstGeom prst="rect">
            <a:avLst/>
          </a:prstGeom>
          <a:noFill/>
        </p:spPr>
        <p:txBody>
          <a:bodyPr wrap="square">
            <a:spAutoFit/>
          </a:bodyPr>
          <a:lstStyle/>
          <a:p>
            <a:pPr algn="l"/>
            <a:r>
              <a:rPr sz="900" b="0" i="0">
                <a:solidFill>
                  <a:srgbClr val="A0B0C0"/>
                </a:solidFill>
              </a:rPr>
              <a:t>Department ▾</a:t>
            </a:r>
          </a:p>
        </p:txBody>
      </p:sp>
      <p:sp>
        <p:nvSpPr>
          <p:cNvPr id="15" name="Rectangle 14"/>
          <p:cNvSpPr/>
          <p:nvPr/>
        </p:nvSpPr>
        <p:spPr>
          <a:xfrm>
            <a:off x="502920" y="2194560"/>
            <a:ext cx="5212080" cy="731520"/>
          </a:xfrm>
          <a:prstGeom prst="rect">
            <a:avLst/>
          </a:prstGeom>
          <a:solidFill>
            <a:srgbClr val="14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350008"/>
            <a:ext cx="4846320" cy="365760"/>
          </a:xfrm>
          <a:prstGeom prst="rect">
            <a:avLst/>
          </a:prstGeom>
          <a:noFill/>
        </p:spPr>
        <p:txBody>
          <a:bodyPr wrap="square">
            <a:spAutoFit/>
          </a:bodyPr>
          <a:lstStyle/>
          <a:p>
            <a:pPr algn="l"/>
            <a:r>
              <a:rPr sz="900" b="0" i="0">
                <a:solidFill>
                  <a:srgbClr val="A0B0C0"/>
                </a:solidFill>
              </a:rPr>
              <a:t>💬  Ask a question about your documentation...</a:t>
            </a:r>
          </a:p>
        </p:txBody>
      </p:sp>
      <p:sp>
        <p:nvSpPr>
          <p:cNvPr id="17" name="Rectangle 16"/>
          <p:cNvSpPr/>
          <p:nvPr/>
        </p:nvSpPr>
        <p:spPr>
          <a:xfrm>
            <a:off x="502920" y="3017520"/>
            <a:ext cx="5212080" cy="1325880"/>
          </a:xfrm>
          <a:prstGeom prst="rect">
            <a:avLst/>
          </a:prstGeom>
          <a:solidFill>
            <a:srgbClr val="0C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154680"/>
            <a:ext cx="4846320" cy="457200"/>
          </a:xfrm>
          <a:prstGeom prst="rect">
            <a:avLst/>
          </a:prstGeom>
          <a:noFill/>
        </p:spPr>
        <p:txBody>
          <a:bodyPr wrap="square">
            <a:spAutoFit/>
          </a:bodyPr>
          <a:lstStyle/>
          <a:p>
            <a:pPr algn="l"/>
            <a:r>
              <a:rPr sz="900" b="0" i="1">
                <a:solidFill>
                  <a:srgbClr val="A0B0C0"/>
                </a:solidFill>
              </a:rPr>
              <a:t>Answer will appear here with citations...</a:t>
            </a:r>
          </a:p>
        </p:txBody>
      </p:sp>
      <p:sp>
        <p:nvSpPr>
          <p:cNvPr id="19" name="Rectangle 18"/>
          <p:cNvSpPr/>
          <p:nvPr/>
        </p:nvSpPr>
        <p:spPr>
          <a:xfrm>
            <a:off x="502920" y="4160520"/>
            <a:ext cx="1097280" cy="256032"/>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4178808"/>
            <a:ext cx="1005840" cy="201168"/>
          </a:xfrm>
          <a:prstGeom prst="rect">
            <a:avLst/>
          </a:prstGeom>
          <a:noFill/>
        </p:spPr>
        <p:txBody>
          <a:bodyPr wrap="square">
            <a:spAutoFit/>
          </a:bodyPr>
          <a:lstStyle/>
          <a:p>
            <a:pPr algn="l"/>
            <a:r>
              <a:rPr sz="750" b="0" i="0">
                <a:solidFill>
                  <a:srgbClr val="FFFFFF"/>
                </a:solidFill>
              </a:rPr>
              <a:t>Confidence</a:t>
            </a:r>
          </a:p>
        </p:txBody>
      </p:sp>
      <p:sp>
        <p:nvSpPr>
          <p:cNvPr id="21" name="TextBox 20"/>
          <p:cNvSpPr txBox="1"/>
          <p:nvPr/>
        </p:nvSpPr>
        <p:spPr>
          <a:xfrm>
            <a:off x="457200" y="4617720"/>
            <a:ext cx="5303520" cy="274320"/>
          </a:xfrm>
          <a:prstGeom prst="rect">
            <a:avLst/>
          </a:prstGeom>
          <a:noFill/>
        </p:spPr>
        <p:txBody>
          <a:bodyPr wrap="square">
            <a:spAutoFit/>
          </a:bodyPr>
          <a:lstStyle/>
          <a:p>
            <a:pPr algn="l"/>
            <a:r>
              <a:rPr sz="1100" b="1" i="0">
                <a:solidFill>
                  <a:srgbClr val="1B6CA8"/>
                </a:solidFill>
              </a:rPr>
              <a:t>Features:</a:t>
            </a:r>
          </a:p>
        </p:txBody>
      </p:sp>
      <p:sp>
        <p:nvSpPr>
          <p:cNvPr id="22" name="TextBox 21"/>
          <p:cNvSpPr txBox="1"/>
          <p:nvPr/>
        </p:nvSpPr>
        <p:spPr>
          <a:xfrm>
            <a:off x="502920" y="4937760"/>
            <a:ext cx="5303520" cy="320040"/>
          </a:xfrm>
          <a:prstGeom prst="rect">
            <a:avLst/>
          </a:prstGeom>
          <a:noFill/>
        </p:spPr>
        <p:txBody>
          <a:bodyPr wrap="square">
            <a:spAutoFit/>
          </a:bodyPr>
          <a:lstStyle/>
          <a:p>
            <a:pPr algn="l"/>
            <a:r>
              <a:rPr sz="1000" b="0" i="0">
                <a:solidFill>
                  <a:srgbClr val="F0F4F8"/>
                </a:solidFill>
              </a:rPr>
              <a:t>• Region &amp; Department filters</a:t>
            </a:r>
          </a:p>
        </p:txBody>
      </p:sp>
      <p:sp>
        <p:nvSpPr>
          <p:cNvPr id="23" name="TextBox 22"/>
          <p:cNvSpPr txBox="1"/>
          <p:nvPr/>
        </p:nvSpPr>
        <p:spPr>
          <a:xfrm>
            <a:off x="502920" y="5285232"/>
            <a:ext cx="5303520" cy="320040"/>
          </a:xfrm>
          <a:prstGeom prst="rect">
            <a:avLst/>
          </a:prstGeom>
          <a:noFill/>
        </p:spPr>
        <p:txBody>
          <a:bodyPr wrap="square">
            <a:spAutoFit/>
          </a:bodyPr>
          <a:lstStyle/>
          <a:p>
            <a:pPr algn="l"/>
            <a:r>
              <a:rPr sz="1000" b="0" i="0">
                <a:solidFill>
                  <a:srgbClr val="F0F4F8"/>
                </a:solidFill>
              </a:rPr>
              <a:t>• Streaming token-by-token answers</a:t>
            </a:r>
          </a:p>
        </p:txBody>
      </p:sp>
      <p:sp>
        <p:nvSpPr>
          <p:cNvPr id="24" name="TextBox 23"/>
          <p:cNvSpPr txBox="1"/>
          <p:nvPr/>
        </p:nvSpPr>
        <p:spPr>
          <a:xfrm>
            <a:off x="502920" y="5632704"/>
            <a:ext cx="5303520" cy="320040"/>
          </a:xfrm>
          <a:prstGeom prst="rect">
            <a:avLst/>
          </a:prstGeom>
          <a:noFill/>
        </p:spPr>
        <p:txBody>
          <a:bodyPr wrap="square">
            <a:spAutoFit/>
          </a:bodyPr>
          <a:lstStyle/>
          <a:p>
            <a:pPr algn="l"/>
            <a:r>
              <a:rPr sz="1000" b="0" i="0">
                <a:solidFill>
                  <a:srgbClr val="F0F4F8"/>
                </a:solidFill>
              </a:rPr>
              <a:t>• Source citations per response</a:t>
            </a:r>
          </a:p>
        </p:txBody>
      </p:sp>
      <p:sp>
        <p:nvSpPr>
          <p:cNvPr id="25" name="TextBox 24"/>
          <p:cNvSpPr txBox="1"/>
          <p:nvPr/>
        </p:nvSpPr>
        <p:spPr>
          <a:xfrm>
            <a:off x="502920" y="5980176"/>
            <a:ext cx="5303520" cy="320040"/>
          </a:xfrm>
          <a:prstGeom prst="rect">
            <a:avLst/>
          </a:prstGeom>
          <a:noFill/>
        </p:spPr>
        <p:txBody>
          <a:bodyPr wrap="square">
            <a:spAutoFit/>
          </a:bodyPr>
          <a:lstStyle/>
          <a:p>
            <a:pPr algn="l"/>
            <a:r>
              <a:rPr sz="1000" b="0" i="0">
                <a:solidFill>
                  <a:srgbClr val="F0F4F8"/>
                </a:solidFill>
              </a:rPr>
              <a:t>• Confidence % metric</a:t>
            </a:r>
          </a:p>
        </p:txBody>
      </p:sp>
      <p:sp>
        <p:nvSpPr>
          <p:cNvPr id="26" name="TextBox 25"/>
          <p:cNvSpPr txBox="1"/>
          <p:nvPr/>
        </p:nvSpPr>
        <p:spPr>
          <a:xfrm>
            <a:off x="502920" y="6327648"/>
            <a:ext cx="5303520" cy="320040"/>
          </a:xfrm>
          <a:prstGeom prst="rect">
            <a:avLst/>
          </a:prstGeom>
          <a:noFill/>
        </p:spPr>
        <p:txBody>
          <a:bodyPr wrap="square">
            <a:spAutoFit/>
          </a:bodyPr>
          <a:lstStyle/>
          <a:p>
            <a:pPr algn="l"/>
            <a:r>
              <a:rPr sz="1000" b="0" i="0">
                <a:solidFill>
                  <a:srgbClr val="F0F4F8"/>
                </a:solidFill>
              </a:rPr>
              <a:t>• New Chat button (clear history)</a:t>
            </a:r>
          </a:p>
        </p:txBody>
      </p:sp>
      <p:sp>
        <p:nvSpPr>
          <p:cNvPr id="27" name="Rectangle 26"/>
          <p:cNvSpPr/>
          <p:nvPr/>
        </p:nvSpPr>
        <p:spPr>
          <a:xfrm>
            <a:off x="6263640" y="1051560"/>
            <a:ext cx="5577840" cy="3474720"/>
          </a:xfrm>
          <a:prstGeom prst="rect">
            <a:avLst/>
          </a:prstGeom>
          <a:solidFill>
            <a:srgbClr val="081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63640" y="1051560"/>
            <a:ext cx="5577840" cy="34747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0" y="1097280"/>
            <a:ext cx="5303520" cy="292608"/>
          </a:xfrm>
          <a:prstGeom prst="rect">
            <a:avLst/>
          </a:prstGeom>
          <a:noFill/>
        </p:spPr>
        <p:txBody>
          <a:bodyPr wrap="square">
            <a:spAutoFit/>
          </a:bodyPr>
          <a:lstStyle/>
          <a:p>
            <a:pPr algn="l"/>
            <a:r>
              <a:rPr sz="1300" b="1" i="0">
                <a:solidFill>
                  <a:srgbClr val="FFFFFF"/>
                </a:solidFill>
              </a:rPr>
              <a:t>Admin Panel</a:t>
            </a:r>
          </a:p>
        </p:txBody>
      </p:sp>
      <p:sp>
        <p:nvSpPr>
          <p:cNvPr id="30" name="Rectangle 29"/>
          <p:cNvSpPr/>
          <p:nvPr/>
        </p:nvSpPr>
        <p:spPr>
          <a:xfrm>
            <a:off x="6446520" y="155448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446520" y="219456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446520" y="2834639"/>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446520" y="3474720"/>
            <a:ext cx="5212080" cy="411480"/>
          </a:xfrm>
          <a:prstGeom prst="rect">
            <a:avLst/>
          </a:prstGeom>
          <a:solidFill>
            <a:srgbClr val="122A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446520" y="1554480"/>
            <a:ext cx="1645920" cy="411480"/>
          </a:xfrm>
          <a:prstGeom prst="rect">
            <a:avLst/>
          </a:prstGeom>
          <a:solidFill>
            <a:srgbClr val="1B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37959" y="1618488"/>
            <a:ext cx="1371600" cy="274320"/>
          </a:xfrm>
          <a:prstGeom prst="rect">
            <a:avLst/>
          </a:prstGeom>
          <a:noFill/>
        </p:spPr>
        <p:txBody>
          <a:bodyPr wrap="square">
            <a:spAutoFit/>
          </a:bodyPr>
          <a:lstStyle/>
          <a:p>
            <a:pPr algn="l"/>
            <a:r>
              <a:rPr sz="900" b="0" i="0">
                <a:solidFill>
                  <a:srgbClr val="A0B0C0"/>
                </a:solidFill>
              </a:rPr>
              <a:t>Region ▾</a:t>
            </a:r>
          </a:p>
        </p:txBody>
      </p:sp>
      <p:sp>
        <p:nvSpPr>
          <p:cNvPr id="36" name="Rectangle 35"/>
          <p:cNvSpPr/>
          <p:nvPr/>
        </p:nvSpPr>
        <p:spPr>
          <a:xfrm>
            <a:off x="8183879" y="1554480"/>
            <a:ext cx="1645920" cy="411480"/>
          </a:xfrm>
          <a:prstGeom prst="rect">
            <a:avLst/>
          </a:prstGeom>
          <a:solidFill>
            <a:srgbClr val="1B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75320" y="1618488"/>
            <a:ext cx="1463040" cy="274320"/>
          </a:xfrm>
          <a:prstGeom prst="rect">
            <a:avLst/>
          </a:prstGeom>
          <a:noFill/>
        </p:spPr>
        <p:txBody>
          <a:bodyPr wrap="square">
            <a:spAutoFit/>
          </a:bodyPr>
          <a:lstStyle/>
          <a:p>
            <a:pPr algn="l"/>
            <a:r>
              <a:rPr sz="900" b="0" i="0">
                <a:solidFill>
                  <a:srgbClr val="A0B0C0"/>
                </a:solidFill>
              </a:rPr>
              <a:t>Department ▾</a:t>
            </a:r>
          </a:p>
        </p:txBody>
      </p:sp>
      <p:sp>
        <p:nvSpPr>
          <p:cNvPr id="38" name="Rectangle 37"/>
          <p:cNvSpPr/>
          <p:nvPr/>
        </p:nvSpPr>
        <p:spPr>
          <a:xfrm>
            <a:off x="6446520" y="2194560"/>
            <a:ext cx="5212080" cy="731520"/>
          </a:xfrm>
          <a:prstGeom prst="rect">
            <a:avLst/>
          </a:prstGeom>
          <a:solidFill>
            <a:srgbClr val="1430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79" y="2350008"/>
            <a:ext cx="4846320" cy="365760"/>
          </a:xfrm>
          <a:prstGeom prst="rect">
            <a:avLst/>
          </a:prstGeom>
          <a:noFill/>
        </p:spPr>
        <p:txBody>
          <a:bodyPr wrap="square">
            <a:spAutoFit/>
          </a:bodyPr>
          <a:lstStyle/>
          <a:p>
            <a:pPr algn="l"/>
            <a:r>
              <a:rPr sz="900" b="0" i="0">
                <a:solidFill>
                  <a:srgbClr val="A0B0C0"/>
                </a:solidFill>
              </a:rPr>
              <a:t>💬  Ask a question about your documentation...</a:t>
            </a:r>
          </a:p>
        </p:txBody>
      </p:sp>
      <p:sp>
        <p:nvSpPr>
          <p:cNvPr id="40" name="Rectangle 39"/>
          <p:cNvSpPr/>
          <p:nvPr/>
        </p:nvSpPr>
        <p:spPr>
          <a:xfrm>
            <a:off x="6446520" y="3017520"/>
            <a:ext cx="5212080" cy="1325880"/>
          </a:xfrm>
          <a:prstGeom prst="rect">
            <a:avLst/>
          </a:prstGeom>
          <a:solidFill>
            <a:srgbClr val="0C20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79" y="3154680"/>
            <a:ext cx="4846320" cy="457200"/>
          </a:xfrm>
          <a:prstGeom prst="rect">
            <a:avLst/>
          </a:prstGeom>
          <a:noFill/>
        </p:spPr>
        <p:txBody>
          <a:bodyPr wrap="square">
            <a:spAutoFit/>
          </a:bodyPr>
          <a:lstStyle/>
          <a:p>
            <a:pPr algn="l"/>
            <a:r>
              <a:rPr sz="900" b="0" i="1">
                <a:solidFill>
                  <a:srgbClr val="A0B0C0"/>
                </a:solidFill>
              </a:rPr>
              <a:t>Answer will appear here with citations...</a:t>
            </a:r>
          </a:p>
        </p:txBody>
      </p:sp>
      <p:sp>
        <p:nvSpPr>
          <p:cNvPr id="42" name="Rectangle 41"/>
          <p:cNvSpPr/>
          <p:nvPr/>
        </p:nvSpPr>
        <p:spPr>
          <a:xfrm>
            <a:off x="6446520" y="4160520"/>
            <a:ext cx="1097280" cy="256032"/>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92240" y="4178808"/>
            <a:ext cx="1005840" cy="201168"/>
          </a:xfrm>
          <a:prstGeom prst="rect">
            <a:avLst/>
          </a:prstGeom>
          <a:noFill/>
        </p:spPr>
        <p:txBody>
          <a:bodyPr wrap="square">
            <a:spAutoFit/>
          </a:bodyPr>
          <a:lstStyle/>
          <a:p>
            <a:pPr algn="l"/>
            <a:r>
              <a:rPr sz="750" b="0" i="0">
                <a:solidFill>
                  <a:srgbClr val="FFFFFF"/>
                </a:solidFill>
              </a:rPr>
              <a:t>Confidence</a:t>
            </a:r>
          </a:p>
        </p:txBody>
      </p:sp>
      <p:sp>
        <p:nvSpPr>
          <p:cNvPr id="44" name="TextBox 43"/>
          <p:cNvSpPr txBox="1"/>
          <p:nvPr/>
        </p:nvSpPr>
        <p:spPr>
          <a:xfrm>
            <a:off x="6400800" y="4617720"/>
            <a:ext cx="5303520" cy="274320"/>
          </a:xfrm>
          <a:prstGeom prst="rect">
            <a:avLst/>
          </a:prstGeom>
          <a:noFill/>
        </p:spPr>
        <p:txBody>
          <a:bodyPr wrap="square">
            <a:spAutoFit/>
          </a:bodyPr>
          <a:lstStyle/>
          <a:p>
            <a:pPr algn="l"/>
            <a:r>
              <a:rPr sz="1100" b="1" i="0">
                <a:solidFill>
                  <a:srgbClr val="2ECC71"/>
                </a:solidFill>
              </a:rPr>
              <a:t>Features:</a:t>
            </a:r>
          </a:p>
        </p:txBody>
      </p:sp>
      <p:sp>
        <p:nvSpPr>
          <p:cNvPr id="45" name="TextBox 44"/>
          <p:cNvSpPr txBox="1"/>
          <p:nvPr/>
        </p:nvSpPr>
        <p:spPr>
          <a:xfrm>
            <a:off x="6446520" y="4937760"/>
            <a:ext cx="5303520" cy="320040"/>
          </a:xfrm>
          <a:prstGeom prst="rect">
            <a:avLst/>
          </a:prstGeom>
          <a:noFill/>
        </p:spPr>
        <p:txBody>
          <a:bodyPr wrap="square">
            <a:spAutoFit/>
          </a:bodyPr>
          <a:lstStyle/>
          <a:p>
            <a:pPr algn="l"/>
            <a:r>
              <a:rPr sz="1000" b="0" i="0">
                <a:solidFill>
                  <a:srgbClr val="F0F4F8"/>
                </a:solidFill>
              </a:rPr>
              <a:t>• Sync Ticket Resolutions from JSON</a:t>
            </a:r>
          </a:p>
        </p:txBody>
      </p:sp>
      <p:sp>
        <p:nvSpPr>
          <p:cNvPr id="46" name="TextBox 45"/>
          <p:cNvSpPr txBox="1"/>
          <p:nvPr/>
        </p:nvSpPr>
        <p:spPr>
          <a:xfrm>
            <a:off x="6446520" y="5285232"/>
            <a:ext cx="5303520" cy="320040"/>
          </a:xfrm>
          <a:prstGeom prst="rect">
            <a:avLst/>
          </a:prstGeom>
          <a:noFill/>
        </p:spPr>
        <p:txBody>
          <a:bodyPr wrap="square">
            <a:spAutoFit/>
          </a:bodyPr>
          <a:lstStyle/>
          <a:p>
            <a:pPr algn="l"/>
            <a:r>
              <a:rPr sz="1000" b="0" i="0">
                <a:solidFill>
                  <a:srgbClr val="F0F4F8"/>
                </a:solidFill>
              </a:rPr>
              <a:t>• Upload PDF / DOCX documents</a:t>
            </a:r>
          </a:p>
        </p:txBody>
      </p:sp>
      <p:sp>
        <p:nvSpPr>
          <p:cNvPr id="47" name="TextBox 46"/>
          <p:cNvSpPr txBox="1"/>
          <p:nvPr/>
        </p:nvSpPr>
        <p:spPr>
          <a:xfrm>
            <a:off x="6446520" y="5632704"/>
            <a:ext cx="5303520" cy="320040"/>
          </a:xfrm>
          <a:prstGeom prst="rect">
            <a:avLst/>
          </a:prstGeom>
          <a:noFill/>
        </p:spPr>
        <p:txBody>
          <a:bodyPr wrap="square">
            <a:spAutoFit/>
          </a:bodyPr>
          <a:lstStyle/>
          <a:p>
            <a:pPr algn="l"/>
            <a:r>
              <a:rPr sz="1000" b="0" i="0">
                <a:solidFill>
                  <a:srgbClr val="F0F4F8"/>
                </a:solidFill>
              </a:rPr>
              <a:t>• Select Region &amp; Department per doc</a:t>
            </a:r>
          </a:p>
        </p:txBody>
      </p:sp>
      <p:sp>
        <p:nvSpPr>
          <p:cNvPr id="48" name="TextBox 47"/>
          <p:cNvSpPr txBox="1"/>
          <p:nvPr/>
        </p:nvSpPr>
        <p:spPr>
          <a:xfrm>
            <a:off x="6446520" y="5980176"/>
            <a:ext cx="5303520" cy="320040"/>
          </a:xfrm>
          <a:prstGeom prst="rect">
            <a:avLst/>
          </a:prstGeom>
          <a:noFill/>
        </p:spPr>
        <p:txBody>
          <a:bodyPr wrap="square">
            <a:spAutoFit/>
          </a:bodyPr>
          <a:lstStyle/>
          <a:p>
            <a:pPr algn="l"/>
            <a:r>
              <a:rPr sz="1000" b="0" i="0">
                <a:solidFill>
                  <a:srgbClr val="F0F4F8"/>
                </a:solidFill>
              </a:rPr>
              <a:t>• Document library with chunk counts</a:t>
            </a:r>
          </a:p>
        </p:txBody>
      </p:sp>
      <p:sp>
        <p:nvSpPr>
          <p:cNvPr id="49" name="TextBox 48"/>
          <p:cNvSpPr txBox="1"/>
          <p:nvPr/>
        </p:nvSpPr>
        <p:spPr>
          <a:xfrm>
            <a:off x="6446520" y="6327648"/>
            <a:ext cx="5303520" cy="320040"/>
          </a:xfrm>
          <a:prstGeom prst="rect">
            <a:avLst/>
          </a:prstGeom>
          <a:noFill/>
        </p:spPr>
        <p:txBody>
          <a:bodyPr wrap="square">
            <a:spAutoFit/>
          </a:bodyPr>
          <a:lstStyle/>
          <a:p>
            <a:pPr algn="l"/>
            <a:r>
              <a:rPr sz="1000" b="0" i="0">
                <a:solidFill>
                  <a:srgbClr val="F0F4F8"/>
                </a:solidFill>
              </a:rPr>
              <a:t>• One-click delete per document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12188952" cy="96012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64592"/>
            <a:ext cx="10972800" cy="640080"/>
          </a:xfrm>
          <a:prstGeom prst="rect">
            <a:avLst/>
          </a:prstGeom>
          <a:noFill/>
        </p:spPr>
        <p:txBody>
          <a:bodyPr wrap="square">
            <a:spAutoFit/>
          </a:bodyPr>
          <a:lstStyle/>
          <a:p>
            <a:pPr algn="l"/>
            <a:r>
              <a:rPr sz="3000" b="1" i="0">
                <a:solidFill>
                  <a:srgbClr val="FFFFFF"/>
                </a:solidFill>
              </a:rPr>
              <a:t>Roadmap &amp; Future Enhancements</a:t>
            </a:r>
          </a:p>
        </p:txBody>
      </p:sp>
      <p:sp>
        <p:nvSpPr>
          <p:cNvPr id="4" name="Rectangle 3"/>
          <p:cNvSpPr/>
          <p:nvPr/>
        </p:nvSpPr>
        <p:spPr>
          <a:xfrm>
            <a:off x="292608" y="1024128"/>
            <a:ext cx="2743200" cy="548640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92608" y="1024128"/>
            <a:ext cx="2743200" cy="54864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02336" y="1069848"/>
            <a:ext cx="2523744" cy="512064"/>
          </a:xfrm>
          <a:prstGeom prst="rect">
            <a:avLst/>
          </a:prstGeom>
          <a:noFill/>
        </p:spPr>
        <p:txBody>
          <a:bodyPr wrap="square">
            <a:spAutoFit/>
          </a:bodyPr>
          <a:lstStyle/>
          <a:p>
            <a:pPr algn="l"/>
            <a:r>
              <a:rPr sz="1200" b="1" i="0">
                <a:solidFill>
                  <a:srgbClr val="FFFFFF"/>
                </a:solidFill>
              </a:rPr>
              <a:t>Phase 1 — Foundation
(Current)</a:t>
            </a:r>
          </a:p>
        </p:txBody>
      </p:sp>
      <p:sp>
        <p:nvSpPr>
          <p:cNvPr id="7" name="Rectangle 6"/>
          <p:cNvSpPr/>
          <p:nvPr/>
        </p:nvSpPr>
        <p:spPr>
          <a:xfrm>
            <a:off x="429768" y="17190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 y="1719072"/>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792224"/>
            <a:ext cx="2286000" cy="594360"/>
          </a:xfrm>
          <a:prstGeom prst="rect">
            <a:avLst/>
          </a:prstGeom>
          <a:noFill/>
        </p:spPr>
        <p:txBody>
          <a:bodyPr wrap="square">
            <a:spAutoFit/>
          </a:bodyPr>
          <a:lstStyle/>
          <a:p>
            <a:pPr algn="l"/>
            <a:r>
              <a:rPr sz="1000" b="0" i="0">
                <a:solidFill>
                  <a:srgbClr val="F0F4F8"/>
                </a:solidFill>
              </a:rPr>
              <a:t>Multi-region RAG knowledge base</a:t>
            </a:r>
          </a:p>
        </p:txBody>
      </p:sp>
      <p:sp>
        <p:nvSpPr>
          <p:cNvPr id="10" name="Rectangle 9"/>
          <p:cNvSpPr/>
          <p:nvPr/>
        </p:nvSpPr>
        <p:spPr>
          <a:xfrm>
            <a:off x="429768" y="26334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 y="2633472"/>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706624"/>
            <a:ext cx="2286000" cy="594360"/>
          </a:xfrm>
          <a:prstGeom prst="rect">
            <a:avLst/>
          </a:prstGeom>
          <a:noFill/>
        </p:spPr>
        <p:txBody>
          <a:bodyPr wrap="square">
            <a:spAutoFit/>
          </a:bodyPr>
          <a:lstStyle/>
          <a:p>
            <a:pPr algn="l"/>
            <a:r>
              <a:rPr sz="1000" b="0" i="0">
                <a:solidFill>
                  <a:srgbClr val="F0F4F8"/>
                </a:solidFill>
              </a:rPr>
              <a:t>PDF/DOCX ingestion pipeline</a:t>
            </a:r>
          </a:p>
        </p:txBody>
      </p:sp>
      <p:sp>
        <p:nvSpPr>
          <p:cNvPr id="13" name="Rectangle 12"/>
          <p:cNvSpPr/>
          <p:nvPr/>
        </p:nvSpPr>
        <p:spPr>
          <a:xfrm>
            <a:off x="429768" y="35478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 y="3547872"/>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3621024"/>
            <a:ext cx="2286000" cy="594360"/>
          </a:xfrm>
          <a:prstGeom prst="rect">
            <a:avLst/>
          </a:prstGeom>
          <a:noFill/>
        </p:spPr>
        <p:txBody>
          <a:bodyPr wrap="square">
            <a:spAutoFit/>
          </a:bodyPr>
          <a:lstStyle/>
          <a:p>
            <a:pPr algn="l"/>
            <a:r>
              <a:rPr sz="1000" b="0" i="0">
                <a:solidFill>
                  <a:srgbClr val="F0F4F8"/>
                </a:solidFill>
              </a:rPr>
              <a:t>Ticket resolution JSON sync</a:t>
            </a:r>
          </a:p>
        </p:txBody>
      </p:sp>
      <p:sp>
        <p:nvSpPr>
          <p:cNvPr id="16" name="Rectangle 15"/>
          <p:cNvSpPr/>
          <p:nvPr/>
        </p:nvSpPr>
        <p:spPr>
          <a:xfrm>
            <a:off x="429768" y="44622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 y="4462272"/>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535424"/>
            <a:ext cx="2286000" cy="594360"/>
          </a:xfrm>
          <a:prstGeom prst="rect">
            <a:avLst/>
          </a:prstGeom>
          <a:noFill/>
        </p:spPr>
        <p:txBody>
          <a:bodyPr wrap="square">
            <a:spAutoFit/>
          </a:bodyPr>
          <a:lstStyle/>
          <a:p>
            <a:pPr algn="l"/>
            <a:r>
              <a:rPr sz="1000" b="0" i="0">
                <a:solidFill>
                  <a:srgbClr val="F0F4F8"/>
                </a:solidFill>
              </a:rPr>
              <a:t>Streaming chat UI with confidence</a:t>
            </a:r>
          </a:p>
        </p:txBody>
      </p:sp>
      <p:sp>
        <p:nvSpPr>
          <p:cNvPr id="19" name="Rectangle 18"/>
          <p:cNvSpPr/>
          <p:nvPr/>
        </p:nvSpPr>
        <p:spPr>
          <a:xfrm>
            <a:off x="429768" y="53766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 y="5376672"/>
            <a:ext cx="54864" cy="749808"/>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449824"/>
            <a:ext cx="2286000" cy="594360"/>
          </a:xfrm>
          <a:prstGeom prst="rect">
            <a:avLst/>
          </a:prstGeom>
          <a:noFill/>
        </p:spPr>
        <p:txBody>
          <a:bodyPr wrap="square">
            <a:spAutoFit/>
          </a:bodyPr>
          <a:lstStyle/>
          <a:p>
            <a:pPr algn="l"/>
            <a:r>
              <a:rPr sz="1000" b="0" i="0">
                <a:solidFill>
                  <a:srgbClr val="F0F4F8"/>
                </a:solidFill>
              </a:rPr>
              <a:t>Admin document management</a:t>
            </a:r>
          </a:p>
        </p:txBody>
      </p:sp>
      <p:sp>
        <p:nvSpPr>
          <p:cNvPr id="22" name="Rectangle 21"/>
          <p:cNvSpPr/>
          <p:nvPr/>
        </p:nvSpPr>
        <p:spPr>
          <a:xfrm>
            <a:off x="3236976" y="1024128"/>
            <a:ext cx="2743200" cy="548640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236976" y="1024128"/>
            <a:ext cx="2743200" cy="5486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346704" y="1069848"/>
            <a:ext cx="2523744" cy="512064"/>
          </a:xfrm>
          <a:prstGeom prst="rect">
            <a:avLst/>
          </a:prstGeom>
          <a:noFill/>
        </p:spPr>
        <p:txBody>
          <a:bodyPr wrap="square">
            <a:spAutoFit/>
          </a:bodyPr>
          <a:lstStyle/>
          <a:p>
            <a:pPr algn="l"/>
            <a:r>
              <a:rPr sz="1200" b="1" i="0">
                <a:solidFill>
                  <a:srgbClr val="FFFFFF"/>
                </a:solidFill>
              </a:rPr>
              <a:t>Phase 2 — Integrations
(Next 30 days)</a:t>
            </a:r>
          </a:p>
        </p:txBody>
      </p:sp>
      <p:sp>
        <p:nvSpPr>
          <p:cNvPr id="25" name="Rectangle 24"/>
          <p:cNvSpPr/>
          <p:nvPr/>
        </p:nvSpPr>
        <p:spPr>
          <a:xfrm>
            <a:off x="3374136" y="17190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74136" y="17190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93008" y="1792224"/>
            <a:ext cx="2286000" cy="594360"/>
          </a:xfrm>
          <a:prstGeom prst="rect">
            <a:avLst/>
          </a:prstGeom>
          <a:noFill/>
        </p:spPr>
        <p:txBody>
          <a:bodyPr wrap="square">
            <a:spAutoFit/>
          </a:bodyPr>
          <a:lstStyle/>
          <a:p>
            <a:pPr algn="l"/>
            <a:r>
              <a:rPr sz="1000" b="0" i="0">
                <a:solidFill>
                  <a:srgbClr val="F0F4F8"/>
                </a:solidFill>
              </a:rPr>
              <a:t>Jira webhook listener + write-back</a:t>
            </a:r>
          </a:p>
        </p:txBody>
      </p:sp>
      <p:sp>
        <p:nvSpPr>
          <p:cNvPr id="28" name="Rectangle 27"/>
          <p:cNvSpPr/>
          <p:nvPr/>
        </p:nvSpPr>
        <p:spPr>
          <a:xfrm>
            <a:off x="3374136" y="26334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74136" y="26334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93008" y="2706624"/>
            <a:ext cx="2286000" cy="594360"/>
          </a:xfrm>
          <a:prstGeom prst="rect">
            <a:avLst/>
          </a:prstGeom>
          <a:noFill/>
        </p:spPr>
        <p:txBody>
          <a:bodyPr wrap="square">
            <a:spAutoFit/>
          </a:bodyPr>
          <a:lstStyle/>
          <a:p>
            <a:pPr algn="l"/>
            <a:r>
              <a:rPr sz="1000" b="0" i="0">
                <a:solidFill>
                  <a:srgbClr val="F0F4F8"/>
                </a:solidFill>
              </a:rPr>
              <a:t>ServiceNow integration</a:t>
            </a:r>
          </a:p>
        </p:txBody>
      </p:sp>
      <p:sp>
        <p:nvSpPr>
          <p:cNvPr id="31" name="Rectangle 30"/>
          <p:cNvSpPr/>
          <p:nvPr/>
        </p:nvSpPr>
        <p:spPr>
          <a:xfrm>
            <a:off x="3374136" y="35478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3374136" y="35478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493008" y="3621024"/>
            <a:ext cx="2286000" cy="594360"/>
          </a:xfrm>
          <a:prstGeom prst="rect">
            <a:avLst/>
          </a:prstGeom>
          <a:noFill/>
        </p:spPr>
        <p:txBody>
          <a:bodyPr wrap="square">
            <a:spAutoFit/>
          </a:bodyPr>
          <a:lstStyle/>
          <a:p>
            <a:pPr algn="l"/>
            <a:r>
              <a:rPr sz="1000" b="0" i="0">
                <a:solidFill>
                  <a:srgbClr val="F0F4F8"/>
                </a:solidFill>
              </a:rPr>
              <a:t>CRM connector (Salesforce / Zendesk)</a:t>
            </a:r>
          </a:p>
        </p:txBody>
      </p:sp>
      <p:sp>
        <p:nvSpPr>
          <p:cNvPr id="34" name="Rectangle 33"/>
          <p:cNvSpPr/>
          <p:nvPr/>
        </p:nvSpPr>
        <p:spPr>
          <a:xfrm>
            <a:off x="3374136" y="44622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374136" y="44622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493008" y="4535424"/>
            <a:ext cx="2286000" cy="594360"/>
          </a:xfrm>
          <a:prstGeom prst="rect">
            <a:avLst/>
          </a:prstGeom>
          <a:noFill/>
        </p:spPr>
        <p:txBody>
          <a:bodyPr wrap="square">
            <a:spAutoFit/>
          </a:bodyPr>
          <a:lstStyle/>
          <a:p>
            <a:pPr algn="l"/>
            <a:r>
              <a:rPr sz="1000" b="0" i="0">
                <a:solidFill>
                  <a:srgbClr val="F0F4F8"/>
                </a:solidFill>
              </a:rPr>
              <a:t>Auto-assign &amp; priority scoring</a:t>
            </a:r>
          </a:p>
        </p:txBody>
      </p:sp>
      <p:sp>
        <p:nvSpPr>
          <p:cNvPr id="37" name="Rectangle 36"/>
          <p:cNvSpPr/>
          <p:nvPr/>
        </p:nvSpPr>
        <p:spPr>
          <a:xfrm>
            <a:off x="3374136" y="53766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374136" y="5376672"/>
            <a:ext cx="54864" cy="7498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493008" y="5449824"/>
            <a:ext cx="2286000" cy="594360"/>
          </a:xfrm>
          <a:prstGeom prst="rect">
            <a:avLst/>
          </a:prstGeom>
          <a:noFill/>
        </p:spPr>
        <p:txBody>
          <a:bodyPr wrap="square">
            <a:spAutoFit/>
          </a:bodyPr>
          <a:lstStyle/>
          <a:p>
            <a:pPr algn="l"/>
            <a:r>
              <a:rPr sz="1000" b="0" i="0">
                <a:solidFill>
                  <a:srgbClr val="F0F4F8"/>
                </a:solidFill>
              </a:rPr>
              <a:t>Slack/Teams notification on assignment</a:t>
            </a:r>
          </a:p>
        </p:txBody>
      </p:sp>
      <p:sp>
        <p:nvSpPr>
          <p:cNvPr id="40" name="Rectangle 39"/>
          <p:cNvSpPr/>
          <p:nvPr/>
        </p:nvSpPr>
        <p:spPr>
          <a:xfrm>
            <a:off x="6181344" y="1024128"/>
            <a:ext cx="2743200" cy="548640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181344" y="1024128"/>
            <a:ext cx="2743200" cy="54864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91072" y="1069848"/>
            <a:ext cx="2523744" cy="512064"/>
          </a:xfrm>
          <a:prstGeom prst="rect">
            <a:avLst/>
          </a:prstGeom>
          <a:noFill/>
        </p:spPr>
        <p:txBody>
          <a:bodyPr wrap="square">
            <a:spAutoFit/>
          </a:bodyPr>
          <a:lstStyle/>
          <a:p>
            <a:pPr algn="l"/>
            <a:r>
              <a:rPr sz="1200" b="1" i="0">
                <a:solidFill>
                  <a:srgbClr val="FFFFFF"/>
                </a:solidFill>
              </a:rPr>
              <a:t>Phase 3 — Intelligence
(60–90 days)</a:t>
            </a:r>
          </a:p>
        </p:txBody>
      </p:sp>
      <p:sp>
        <p:nvSpPr>
          <p:cNvPr id="43" name="Rectangle 42"/>
          <p:cNvSpPr/>
          <p:nvPr/>
        </p:nvSpPr>
        <p:spPr>
          <a:xfrm>
            <a:off x="6318504" y="17190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318504" y="1719072"/>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37376" y="1792224"/>
            <a:ext cx="2286000" cy="594360"/>
          </a:xfrm>
          <a:prstGeom prst="rect">
            <a:avLst/>
          </a:prstGeom>
          <a:noFill/>
        </p:spPr>
        <p:txBody>
          <a:bodyPr wrap="square">
            <a:spAutoFit/>
          </a:bodyPr>
          <a:lstStyle/>
          <a:p>
            <a:pPr algn="l"/>
            <a:r>
              <a:rPr sz="1000" b="0" i="0">
                <a:solidFill>
                  <a:srgbClr val="F0F4F8"/>
                </a:solidFill>
              </a:rPr>
              <a:t>Fine-tuned assignee routing model</a:t>
            </a:r>
          </a:p>
        </p:txBody>
      </p:sp>
      <p:sp>
        <p:nvSpPr>
          <p:cNvPr id="46" name="Rectangle 45"/>
          <p:cNvSpPr/>
          <p:nvPr/>
        </p:nvSpPr>
        <p:spPr>
          <a:xfrm>
            <a:off x="6318504" y="26334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18504" y="2633472"/>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437376" y="2706624"/>
            <a:ext cx="2286000" cy="594360"/>
          </a:xfrm>
          <a:prstGeom prst="rect">
            <a:avLst/>
          </a:prstGeom>
          <a:noFill/>
        </p:spPr>
        <p:txBody>
          <a:bodyPr wrap="square">
            <a:spAutoFit/>
          </a:bodyPr>
          <a:lstStyle/>
          <a:p>
            <a:pPr algn="l"/>
            <a:r>
              <a:rPr sz="1000" b="0" i="0">
                <a:solidFill>
                  <a:srgbClr val="F0F4F8"/>
                </a:solidFill>
              </a:rPr>
              <a:t>SLA breach prediction</a:t>
            </a:r>
          </a:p>
        </p:txBody>
      </p:sp>
      <p:sp>
        <p:nvSpPr>
          <p:cNvPr id="49" name="Rectangle 48"/>
          <p:cNvSpPr/>
          <p:nvPr/>
        </p:nvSpPr>
        <p:spPr>
          <a:xfrm>
            <a:off x="6318504" y="35478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318504" y="3547872"/>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437376" y="3621024"/>
            <a:ext cx="2286000" cy="594360"/>
          </a:xfrm>
          <a:prstGeom prst="rect">
            <a:avLst/>
          </a:prstGeom>
          <a:noFill/>
        </p:spPr>
        <p:txBody>
          <a:bodyPr wrap="square">
            <a:spAutoFit/>
          </a:bodyPr>
          <a:lstStyle/>
          <a:p>
            <a:pPr algn="l"/>
            <a:r>
              <a:rPr sz="1000" b="0" i="0">
                <a:solidFill>
                  <a:srgbClr val="F0F4F8"/>
                </a:solidFill>
              </a:rPr>
              <a:t>Trending issue detection &amp; alerts</a:t>
            </a:r>
          </a:p>
        </p:txBody>
      </p:sp>
      <p:sp>
        <p:nvSpPr>
          <p:cNvPr id="52" name="Rectangle 51"/>
          <p:cNvSpPr/>
          <p:nvPr/>
        </p:nvSpPr>
        <p:spPr>
          <a:xfrm>
            <a:off x="6318504" y="44622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318504" y="4462272"/>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437376" y="4535424"/>
            <a:ext cx="2286000" cy="594360"/>
          </a:xfrm>
          <a:prstGeom prst="rect">
            <a:avLst/>
          </a:prstGeom>
          <a:noFill/>
        </p:spPr>
        <p:txBody>
          <a:bodyPr wrap="square">
            <a:spAutoFit/>
          </a:bodyPr>
          <a:lstStyle/>
          <a:p>
            <a:pPr algn="l"/>
            <a:r>
              <a:rPr sz="1000" b="0" i="0">
                <a:solidFill>
                  <a:srgbClr val="F0F4F8"/>
                </a:solidFill>
              </a:rPr>
              <a:t>Self-learning: ingest resolved tickets</a:t>
            </a:r>
          </a:p>
        </p:txBody>
      </p:sp>
      <p:sp>
        <p:nvSpPr>
          <p:cNvPr id="55" name="Rectangle 54"/>
          <p:cNvSpPr/>
          <p:nvPr/>
        </p:nvSpPr>
        <p:spPr>
          <a:xfrm>
            <a:off x="6318504" y="53766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6318504" y="5376672"/>
            <a:ext cx="54864" cy="749808"/>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37376" y="5449824"/>
            <a:ext cx="2286000" cy="594360"/>
          </a:xfrm>
          <a:prstGeom prst="rect">
            <a:avLst/>
          </a:prstGeom>
          <a:noFill/>
        </p:spPr>
        <p:txBody>
          <a:bodyPr wrap="square">
            <a:spAutoFit/>
          </a:bodyPr>
          <a:lstStyle/>
          <a:p>
            <a:pPr algn="l"/>
            <a:r>
              <a:rPr sz="1000" b="0" i="0">
                <a:solidFill>
                  <a:srgbClr val="F0F4F8"/>
                </a:solidFill>
              </a:rPr>
              <a:t>Multi-language support</a:t>
            </a:r>
          </a:p>
        </p:txBody>
      </p:sp>
      <p:sp>
        <p:nvSpPr>
          <p:cNvPr id="58" name="Rectangle 57"/>
          <p:cNvSpPr/>
          <p:nvPr/>
        </p:nvSpPr>
        <p:spPr>
          <a:xfrm>
            <a:off x="9125712" y="1024128"/>
            <a:ext cx="2743200" cy="548640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125712" y="1024128"/>
            <a:ext cx="2743200" cy="54864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235440" y="1069848"/>
            <a:ext cx="2523744" cy="512064"/>
          </a:xfrm>
          <a:prstGeom prst="rect">
            <a:avLst/>
          </a:prstGeom>
          <a:noFill/>
        </p:spPr>
        <p:txBody>
          <a:bodyPr wrap="square">
            <a:spAutoFit/>
          </a:bodyPr>
          <a:lstStyle/>
          <a:p>
            <a:pPr algn="l"/>
            <a:r>
              <a:rPr sz="1200" b="1" i="0">
                <a:solidFill>
                  <a:srgbClr val="FFFFFF"/>
                </a:solidFill>
              </a:rPr>
              <a:t>Phase 4 — Enterprise
(90+ days)</a:t>
            </a:r>
          </a:p>
        </p:txBody>
      </p:sp>
      <p:sp>
        <p:nvSpPr>
          <p:cNvPr id="61" name="Rectangle 60"/>
          <p:cNvSpPr/>
          <p:nvPr/>
        </p:nvSpPr>
        <p:spPr>
          <a:xfrm>
            <a:off x="9262872" y="17190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262872" y="1719072"/>
            <a:ext cx="54864" cy="7498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9381744" y="1792224"/>
            <a:ext cx="2286000" cy="594360"/>
          </a:xfrm>
          <a:prstGeom prst="rect">
            <a:avLst/>
          </a:prstGeom>
          <a:noFill/>
        </p:spPr>
        <p:txBody>
          <a:bodyPr wrap="square">
            <a:spAutoFit/>
          </a:bodyPr>
          <a:lstStyle/>
          <a:p>
            <a:pPr algn="l"/>
            <a:r>
              <a:rPr sz="1000" b="0" i="0">
                <a:solidFill>
                  <a:srgbClr val="F0F4F8"/>
                </a:solidFill>
              </a:rPr>
              <a:t>SSO / RBAC access control</a:t>
            </a:r>
          </a:p>
        </p:txBody>
      </p:sp>
      <p:sp>
        <p:nvSpPr>
          <p:cNvPr id="64" name="Rectangle 63"/>
          <p:cNvSpPr/>
          <p:nvPr/>
        </p:nvSpPr>
        <p:spPr>
          <a:xfrm>
            <a:off x="9262872" y="26334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262872" y="2633472"/>
            <a:ext cx="54864" cy="7498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381744" y="2706624"/>
            <a:ext cx="2286000" cy="594360"/>
          </a:xfrm>
          <a:prstGeom prst="rect">
            <a:avLst/>
          </a:prstGeom>
          <a:noFill/>
        </p:spPr>
        <p:txBody>
          <a:bodyPr wrap="square">
            <a:spAutoFit/>
          </a:bodyPr>
          <a:lstStyle/>
          <a:p>
            <a:pPr algn="l"/>
            <a:r>
              <a:rPr sz="1000" b="0" i="0">
                <a:solidFill>
                  <a:srgbClr val="F0F4F8"/>
                </a:solidFill>
              </a:rPr>
              <a:t>Analytics dashboard (resolution KPIs)</a:t>
            </a:r>
          </a:p>
        </p:txBody>
      </p:sp>
      <p:sp>
        <p:nvSpPr>
          <p:cNvPr id="67" name="Rectangle 66"/>
          <p:cNvSpPr/>
          <p:nvPr/>
        </p:nvSpPr>
        <p:spPr>
          <a:xfrm>
            <a:off x="9262872" y="35478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9262872" y="3547872"/>
            <a:ext cx="54864" cy="7498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381744" y="3621024"/>
            <a:ext cx="2286000" cy="594360"/>
          </a:xfrm>
          <a:prstGeom prst="rect">
            <a:avLst/>
          </a:prstGeom>
          <a:noFill/>
        </p:spPr>
        <p:txBody>
          <a:bodyPr wrap="square">
            <a:spAutoFit/>
          </a:bodyPr>
          <a:lstStyle/>
          <a:p>
            <a:pPr algn="l"/>
            <a:r>
              <a:rPr sz="1000" b="0" i="0">
                <a:solidFill>
                  <a:srgbClr val="F0F4F8"/>
                </a:solidFill>
              </a:rPr>
              <a:t>On-premise / private cloud deploy</a:t>
            </a:r>
          </a:p>
        </p:txBody>
      </p:sp>
      <p:sp>
        <p:nvSpPr>
          <p:cNvPr id="70" name="Rectangle 69"/>
          <p:cNvSpPr/>
          <p:nvPr/>
        </p:nvSpPr>
        <p:spPr>
          <a:xfrm>
            <a:off x="9262872" y="44622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9262872" y="4462272"/>
            <a:ext cx="54864" cy="7498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9381744" y="4535424"/>
            <a:ext cx="2286000" cy="594360"/>
          </a:xfrm>
          <a:prstGeom prst="rect">
            <a:avLst/>
          </a:prstGeom>
          <a:noFill/>
        </p:spPr>
        <p:txBody>
          <a:bodyPr wrap="square">
            <a:spAutoFit/>
          </a:bodyPr>
          <a:lstStyle/>
          <a:p>
            <a:pPr algn="l"/>
            <a:r>
              <a:rPr sz="1000" b="0" i="0">
                <a:solidFill>
                  <a:srgbClr val="F0F4F8"/>
                </a:solidFill>
              </a:rPr>
              <a:t>Custom LLM fine-tuning</a:t>
            </a:r>
          </a:p>
        </p:txBody>
      </p:sp>
      <p:sp>
        <p:nvSpPr>
          <p:cNvPr id="73" name="Rectangle 72"/>
          <p:cNvSpPr/>
          <p:nvPr/>
        </p:nvSpPr>
        <p:spPr>
          <a:xfrm>
            <a:off x="9262872" y="5376672"/>
            <a:ext cx="2468880" cy="749808"/>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Rectangle 73"/>
          <p:cNvSpPr/>
          <p:nvPr/>
        </p:nvSpPr>
        <p:spPr>
          <a:xfrm>
            <a:off x="9262872" y="5376672"/>
            <a:ext cx="54864" cy="749808"/>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9381744" y="5449824"/>
            <a:ext cx="2286000" cy="594360"/>
          </a:xfrm>
          <a:prstGeom prst="rect">
            <a:avLst/>
          </a:prstGeom>
          <a:noFill/>
        </p:spPr>
        <p:txBody>
          <a:bodyPr wrap="square">
            <a:spAutoFit/>
          </a:bodyPr>
          <a:lstStyle/>
          <a:p>
            <a:pPr algn="l"/>
            <a:r>
              <a:rPr sz="1000" b="0" i="0">
                <a:solidFill>
                  <a:srgbClr val="F0F4F8"/>
                </a:solidFill>
              </a:rPr>
              <a:t>API-first headless mode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1B2A"/>
        </a:solidFill>
        <a:effectLst/>
      </p:bgPr>
    </p:bg>
    <p:spTree>
      <p:nvGrpSpPr>
        <p:cNvPr id="1" name=""/>
        <p:cNvGrpSpPr/>
        <p:nvPr/>
      </p:nvGrpSpPr>
      <p:grpSpPr/>
      <p:sp>
        <p:nvSpPr>
          <p:cNvPr id="2" name="Rectangle 1"/>
          <p:cNvSpPr/>
          <p:nvPr/>
        </p:nvSpPr>
        <p:spPr>
          <a:xfrm>
            <a:off x="0" y="0"/>
            <a:ext cx="73152" cy="685800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88952" cy="36576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80160"/>
            <a:ext cx="10972800" cy="914400"/>
          </a:xfrm>
          <a:prstGeom prst="rect">
            <a:avLst/>
          </a:prstGeom>
          <a:noFill/>
        </p:spPr>
        <p:txBody>
          <a:bodyPr wrap="square">
            <a:spAutoFit/>
          </a:bodyPr>
          <a:lstStyle/>
          <a:p>
            <a:pPr algn="l"/>
            <a:r>
              <a:rPr sz="5200" b="1" i="0">
                <a:solidFill>
                  <a:srgbClr val="FFFFFF"/>
                </a:solidFill>
              </a:rPr>
              <a:t>Thank You</a:t>
            </a:r>
          </a:p>
        </p:txBody>
      </p:sp>
      <p:sp>
        <p:nvSpPr>
          <p:cNvPr id="5" name="Rectangle 4"/>
          <p:cNvSpPr/>
          <p:nvPr/>
        </p:nvSpPr>
        <p:spPr>
          <a:xfrm>
            <a:off x="457200" y="2423160"/>
            <a:ext cx="3657600" cy="64008"/>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2651760"/>
            <a:ext cx="7772400" cy="457200"/>
          </a:xfrm>
          <a:prstGeom prst="rect">
            <a:avLst/>
          </a:prstGeom>
          <a:noFill/>
        </p:spPr>
        <p:txBody>
          <a:bodyPr wrap="square">
            <a:spAutoFit/>
          </a:bodyPr>
          <a:lstStyle/>
          <a:p>
            <a:pPr algn="l"/>
            <a:r>
              <a:rPr sz="1300" b="0" i="0">
                <a:solidFill>
                  <a:srgbClr val="F0F4F8"/>
                </a:solidFill>
              </a:rPr>
              <a:t>✅  RAG-based ticket resolution with Cohere + ChromaDB</a:t>
            </a:r>
          </a:p>
        </p:txBody>
      </p:sp>
      <p:sp>
        <p:nvSpPr>
          <p:cNvPr id="7" name="TextBox 6"/>
          <p:cNvSpPr txBox="1"/>
          <p:nvPr/>
        </p:nvSpPr>
        <p:spPr>
          <a:xfrm>
            <a:off x="457200" y="3154680"/>
            <a:ext cx="7772400" cy="457200"/>
          </a:xfrm>
          <a:prstGeom prst="rect">
            <a:avLst/>
          </a:prstGeom>
          <a:noFill/>
        </p:spPr>
        <p:txBody>
          <a:bodyPr wrap="square">
            <a:spAutoFit/>
          </a:bodyPr>
          <a:lstStyle/>
          <a:p>
            <a:pPr algn="l"/>
            <a:r>
              <a:rPr sz="1300" b="0" i="0">
                <a:solidFill>
                  <a:srgbClr val="F0F4F8"/>
                </a:solidFill>
              </a:rPr>
              <a:t>✅  Multi-region, multi-department knowledge base</a:t>
            </a:r>
          </a:p>
        </p:txBody>
      </p:sp>
      <p:sp>
        <p:nvSpPr>
          <p:cNvPr id="8" name="TextBox 7"/>
          <p:cNvSpPr txBox="1"/>
          <p:nvPr/>
        </p:nvSpPr>
        <p:spPr>
          <a:xfrm>
            <a:off x="457200" y="3657600"/>
            <a:ext cx="7772400" cy="457200"/>
          </a:xfrm>
          <a:prstGeom prst="rect">
            <a:avLst/>
          </a:prstGeom>
          <a:noFill/>
        </p:spPr>
        <p:txBody>
          <a:bodyPr wrap="square">
            <a:spAutoFit/>
          </a:bodyPr>
          <a:lstStyle/>
          <a:p>
            <a:pPr algn="l"/>
            <a:r>
              <a:rPr sz="1300" b="0" i="0">
                <a:solidFill>
                  <a:srgbClr val="F0F4F8"/>
                </a:solidFill>
              </a:rPr>
              <a:t>✅  Real-time third-party integration (Jira, ServiceNow, CRM)</a:t>
            </a:r>
          </a:p>
        </p:txBody>
      </p:sp>
      <p:sp>
        <p:nvSpPr>
          <p:cNvPr id="9" name="TextBox 8"/>
          <p:cNvSpPr txBox="1"/>
          <p:nvPr/>
        </p:nvSpPr>
        <p:spPr>
          <a:xfrm>
            <a:off x="457200" y="4160520"/>
            <a:ext cx="7772400" cy="457200"/>
          </a:xfrm>
          <a:prstGeom prst="rect">
            <a:avLst/>
          </a:prstGeom>
          <a:noFill/>
        </p:spPr>
        <p:txBody>
          <a:bodyPr wrap="square">
            <a:spAutoFit/>
          </a:bodyPr>
          <a:lstStyle/>
          <a:p>
            <a:pPr algn="l"/>
            <a:r>
              <a:rPr sz="1300" b="0" i="0">
                <a:solidFill>
                  <a:srgbClr val="F0F4F8"/>
                </a:solidFill>
              </a:rPr>
              <a:t>✅  Auto-assign, priority scoring, AI resolution comments</a:t>
            </a:r>
          </a:p>
        </p:txBody>
      </p:sp>
      <p:sp>
        <p:nvSpPr>
          <p:cNvPr id="10" name="TextBox 9"/>
          <p:cNvSpPr txBox="1"/>
          <p:nvPr/>
        </p:nvSpPr>
        <p:spPr>
          <a:xfrm>
            <a:off x="457200" y="4663440"/>
            <a:ext cx="7772400" cy="457200"/>
          </a:xfrm>
          <a:prstGeom prst="rect">
            <a:avLst/>
          </a:prstGeom>
          <a:noFill/>
        </p:spPr>
        <p:txBody>
          <a:bodyPr wrap="square">
            <a:spAutoFit/>
          </a:bodyPr>
          <a:lstStyle/>
          <a:p>
            <a:pPr algn="l"/>
            <a:r>
              <a:rPr sz="1300" b="0" i="0">
                <a:solidFill>
                  <a:srgbClr val="F0F4F8"/>
                </a:solidFill>
              </a:rPr>
              <a:t>✅  Fully extensible — any REST/webhook system supported</a:t>
            </a:r>
          </a:p>
        </p:txBody>
      </p:sp>
      <p:sp>
        <p:nvSpPr>
          <p:cNvPr id="11" name="TextBox 10"/>
          <p:cNvSpPr txBox="1"/>
          <p:nvPr/>
        </p:nvSpPr>
        <p:spPr>
          <a:xfrm>
            <a:off x="457200" y="5440680"/>
            <a:ext cx="7315200" cy="365760"/>
          </a:xfrm>
          <a:prstGeom prst="rect">
            <a:avLst/>
          </a:prstGeom>
          <a:noFill/>
        </p:spPr>
        <p:txBody>
          <a:bodyPr wrap="square">
            <a:spAutoFit/>
          </a:bodyPr>
          <a:lstStyle/>
          <a:p>
            <a:pPr algn="l"/>
            <a:r>
              <a:rPr sz="1200" b="0" i="0">
                <a:solidFill>
                  <a:srgbClr val="A0B0C0"/>
                </a:solidFill>
              </a:rPr>
              <a:t>Built at IncubXperts Hackathon 2026</a:t>
            </a:r>
          </a:p>
        </p:txBody>
      </p:sp>
      <p:sp>
        <p:nvSpPr>
          <p:cNvPr id="12" name="Rectangle 11"/>
          <p:cNvSpPr/>
          <p:nvPr/>
        </p:nvSpPr>
        <p:spPr>
          <a:xfrm>
            <a:off x="8961120" y="2103120"/>
            <a:ext cx="2834640" cy="3657600"/>
          </a:xfrm>
          <a:prstGeom prst="rect">
            <a:avLst/>
          </a:prstGeom>
          <a:solidFill>
            <a:srgbClr val="0A1E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98280" y="2240280"/>
            <a:ext cx="2560320" cy="347472"/>
          </a:xfrm>
          <a:prstGeom prst="rect">
            <a:avLst/>
          </a:prstGeom>
          <a:noFill/>
        </p:spPr>
        <p:txBody>
          <a:bodyPr wrap="square">
            <a:spAutoFit/>
          </a:bodyPr>
          <a:lstStyle/>
          <a:p>
            <a:pPr algn="ctr"/>
            <a:r>
              <a:rPr sz="1300" b="1" i="0">
                <a:solidFill>
                  <a:srgbClr val="1B6CA8"/>
                </a:solidFill>
              </a:rPr>
              <a:t>Tech Stack</a:t>
            </a:r>
          </a:p>
        </p:txBody>
      </p:sp>
      <p:sp>
        <p:nvSpPr>
          <p:cNvPr id="14" name="Rectangle 13"/>
          <p:cNvSpPr/>
          <p:nvPr/>
        </p:nvSpPr>
        <p:spPr>
          <a:xfrm>
            <a:off x="9144000" y="2670048"/>
            <a:ext cx="2377440" cy="45720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0" y="2670048"/>
            <a:ext cx="54864" cy="4572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53728" y="2724912"/>
            <a:ext cx="2194560" cy="347472"/>
          </a:xfrm>
          <a:prstGeom prst="rect">
            <a:avLst/>
          </a:prstGeom>
          <a:noFill/>
        </p:spPr>
        <p:txBody>
          <a:bodyPr wrap="square">
            <a:spAutoFit/>
          </a:bodyPr>
          <a:lstStyle/>
          <a:p>
            <a:pPr algn="l"/>
            <a:r>
              <a:rPr sz="1100" b="0" i="0">
                <a:solidFill>
                  <a:srgbClr val="FFFFFF"/>
                </a:solidFill>
              </a:rPr>
              <a:t>Cohere LLM</a:t>
            </a:r>
          </a:p>
        </p:txBody>
      </p:sp>
      <p:sp>
        <p:nvSpPr>
          <p:cNvPr id="17" name="Rectangle 16"/>
          <p:cNvSpPr/>
          <p:nvPr/>
        </p:nvSpPr>
        <p:spPr>
          <a:xfrm>
            <a:off x="9144000" y="3264408"/>
            <a:ext cx="2377440" cy="45720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0" y="3264408"/>
            <a:ext cx="54864" cy="457200"/>
          </a:xfrm>
          <a:prstGeom prst="rect">
            <a:avLst/>
          </a:prstGeom>
          <a:solidFill>
            <a:srgbClr val="4FA3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53728" y="3319272"/>
            <a:ext cx="2194560" cy="347472"/>
          </a:xfrm>
          <a:prstGeom prst="rect">
            <a:avLst/>
          </a:prstGeom>
          <a:noFill/>
        </p:spPr>
        <p:txBody>
          <a:bodyPr wrap="square">
            <a:spAutoFit/>
          </a:bodyPr>
          <a:lstStyle/>
          <a:p>
            <a:pPr algn="l"/>
            <a:r>
              <a:rPr sz="1100" b="0" i="0">
                <a:solidFill>
                  <a:srgbClr val="FFFFFF"/>
                </a:solidFill>
              </a:rPr>
              <a:t>Cohere Embeddings</a:t>
            </a:r>
          </a:p>
        </p:txBody>
      </p:sp>
      <p:sp>
        <p:nvSpPr>
          <p:cNvPr id="20" name="Rectangle 19"/>
          <p:cNvSpPr/>
          <p:nvPr/>
        </p:nvSpPr>
        <p:spPr>
          <a:xfrm>
            <a:off x="9144000" y="3858768"/>
            <a:ext cx="2377440" cy="45720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0" y="3858768"/>
            <a:ext cx="54864" cy="457200"/>
          </a:xfrm>
          <a:prstGeom prst="rect">
            <a:avLst/>
          </a:prstGeom>
          <a:solidFill>
            <a:srgbClr val="2ECC7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53728" y="3913632"/>
            <a:ext cx="2194560" cy="347472"/>
          </a:xfrm>
          <a:prstGeom prst="rect">
            <a:avLst/>
          </a:prstGeom>
          <a:noFill/>
        </p:spPr>
        <p:txBody>
          <a:bodyPr wrap="square">
            <a:spAutoFit/>
          </a:bodyPr>
          <a:lstStyle/>
          <a:p>
            <a:pPr algn="l"/>
            <a:r>
              <a:rPr sz="1100" b="0" i="0">
                <a:solidFill>
                  <a:srgbClr val="FFFFFF"/>
                </a:solidFill>
              </a:rPr>
              <a:t>ChromaDB</a:t>
            </a:r>
          </a:p>
        </p:txBody>
      </p:sp>
      <p:sp>
        <p:nvSpPr>
          <p:cNvPr id="23" name="Rectangle 22"/>
          <p:cNvSpPr/>
          <p:nvPr/>
        </p:nvSpPr>
        <p:spPr>
          <a:xfrm>
            <a:off x="9144000" y="4453128"/>
            <a:ext cx="2377440" cy="45720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44000" y="4453128"/>
            <a:ext cx="54864" cy="457200"/>
          </a:xfrm>
          <a:prstGeom prst="rect">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53728" y="4507992"/>
            <a:ext cx="2194560" cy="347472"/>
          </a:xfrm>
          <a:prstGeom prst="rect">
            <a:avLst/>
          </a:prstGeom>
          <a:noFill/>
        </p:spPr>
        <p:txBody>
          <a:bodyPr wrap="square">
            <a:spAutoFit/>
          </a:bodyPr>
          <a:lstStyle/>
          <a:p>
            <a:pPr algn="l"/>
            <a:r>
              <a:rPr sz="1100" b="0" i="0">
                <a:solidFill>
                  <a:srgbClr val="FFFFFF"/>
                </a:solidFill>
              </a:rPr>
              <a:t>Streamlit</a:t>
            </a:r>
          </a:p>
        </p:txBody>
      </p:sp>
      <p:sp>
        <p:nvSpPr>
          <p:cNvPr id="26" name="Rectangle 25"/>
          <p:cNvSpPr/>
          <p:nvPr/>
        </p:nvSpPr>
        <p:spPr>
          <a:xfrm>
            <a:off x="9144000" y="5047488"/>
            <a:ext cx="2377440" cy="457200"/>
          </a:xfrm>
          <a:prstGeom prst="rect">
            <a:avLst/>
          </a:prstGeom>
          <a:solidFill>
            <a:srgbClr val="0F26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0" y="5047488"/>
            <a:ext cx="54864" cy="457200"/>
          </a:xfrm>
          <a:prstGeom prst="rect">
            <a:avLst/>
          </a:prstGeom>
          <a:solidFill>
            <a:srgbClr val="8E44A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53728" y="5102352"/>
            <a:ext cx="2194560" cy="347472"/>
          </a:xfrm>
          <a:prstGeom prst="rect">
            <a:avLst/>
          </a:prstGeom>
          <a:noFill/>
        </p:spPr>
        <p:txBody>
          <a:bodyPr wrap="square">
            <a:spAutoFit/>
          </a:bodyPr>
          <a:lstStyle/>
          <a:p>
            <a:pPr algn="l"/>
            <a:r>
              <a:rPr sz="1100" b="0" i="0">
                <a:solidFill>
                  <a:srgbClr val="FFFFFF"/>
                </a:solidFill>
              </a:rPr>
              <a:t>Python 3.13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